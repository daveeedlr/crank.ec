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 · ESTRATEGIA CRANK · V2 — CORREGIDA CON INTELIGENCIA INTERNA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141732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BF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CRANK </a:t>
            </a:r>
            <a:pPr indent="0" marL="0">
              <a:buNone/>
            </a:pPr>
            <a:r>
              <a:rPr lang="en-US" sz="5200" b="1" i="1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</a:t>
            </a:r>
            <a:pPr indent="0" marL="0">
              <a:buNone/>
            </a:pPr>
            <a:r>
              <a:rPr lang="en-US" sz="5200" b="1" dirty="0">
                <a:solidFill>
                  <a:srgbClr val="FBF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LAP.ccc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D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pelea es más pareja de lo que parecía —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D8D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por eso el plan tiene que ser más afilado.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069080"/>
            <a:ext cx="502920" cy="9144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2976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Cuenca, Ecuador · Junio 2026 · Preparado para el equipo Crank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 · QUÉ CAMBIÓ EN ESTA VERSIÓN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Correcciones sobre el primer estudio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1627632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2606040" cy="64008"/>
          </a:xfrm>
          <a:prstGeom prst="rect">
            <a:avLst/>
          </a:prstGeom>
          <a:solidFill>
            <a:srgbClr val="E1C3FF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5179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LAP sí tiene taller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67512" y="1847088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Tercerizado: un tercero alquila espacio en su local. El foso ya no es “no tienen taller” — es taller propio vs alquilado.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06040" cy="1627632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371600"/>
            <a:ext cx="2606040" cy="64008"/>
          </a:xfrm>
          <a:prstGeom prst="rect">
            <a:avLst/>
          </a:prstGeom>
          <a:solidFill>
            <a:srgbClr val="E1C3FF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5179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Domingos: no es ventaja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456432" y="1847088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Crank también cierra. Nadie atiende el día que más rueda Cuenca — oportunidad abierta, no fortaleza.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6080760" y="1371600"/>
            <a:ext cx="2606040" cy="1627632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1371600"/>
            <a:ext cx="2606040" cy="64008"/>
          </a:xfrm>
          <a:prstGeom prst="rect">
            <a:avLst/>
          </a:prstGeom>
          <a:solidFill>
            <a:srgbClr val="E1C3FF"/>
          </a:solidFill>
          <a:ln/>
        </p:spPr>
      </p:sp>
      <p:sp>
        <p:nvSpPr>
          <p:cNvPr id="14" name="Text 12"/>
          <p:cNvSpPr/>
          <p:nvPr/>
        </p:nvSpPr>
        <p:spPr>
          <a:xfrm>
            <a:off x="6245352" y="15179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 arma real: el trade-in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45352" y="1847088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Reciben la Specialized usada como parte de pago de una ENVE, con ajuste bajo. Recompra que acelera el upgrade y amarra al cliente.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502920" y="3136392"/>
            <a:ext cx="2606040" cy="1627632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136392"/>
            <a:ext cx="2606040" cy="64008"/>
          </a:xfrm>
          <a:prstGeom prst="rect">
            <a:avLst/>
          </a:prstGeom>
          <a:solidFill>
            <a:srgbClr val="E1C3FF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2826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Mismos segmentos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67512" y="36118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 también cubre ruta, MTB, gravel, urbano, bikepacking y niños. La amplitud ya no diferencia; la profundidad sí.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3291840" y="3136392"/>
            <a:ext cx="2606040" cy="1627632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3136392"/>
            <a:ext cx="2606040" cy="64008"/>
          </a:xfrm>
          <a:prstGeom prst="rect">
            <a:avLst/>
          </a:prstGeom>
          <a:solidFill>
            <a:srgbClr val="E1C3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56432" y="32826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Crank representa 2 marcas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456432" y="36118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Pinarello y Cube. El “15+” es nuestra mecánica multimarca: vendemos 2, atendemos todas.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6080760" y="3136392"/>
            <a:ext cx="2606040" cy="1627632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0760" y="3136392"/>
            <a:ext cx="2606040" cy="64008"/>
          </a:xfrm>
          <a:prstGeom prst="rect">
            <a:avLst/>
          </a:prstGeom>
          <a:solidFill>
            <a:srgbClr val="E1C3FF"/>
          </a:solidFill>
          <a:ln/>
        </p:spPr>
      </p:sp>
      <p:sp>
        <p:nvSpPr>
          <p:cNvPr id="26" name="Text 24"/>
          <p:cNvSpPr/>
          <p:nvPr/>
        </p:nvSpPr>
        <p:spPr>
          <a:xfrm>
            <a:off x="6245352" y="32826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Tenemos apparel premium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245352" y="36118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Colours (UK) — respuesta directa a Gobik/PNS, aún subexplotada.</a:t>
            </a:r>
            <a:endParaRPr lang="en-US" sz="9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RESUMEN EJECUTIVO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situación real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 es más completo de lo que admitíamos: mismos segmentos, mecánica resuelta en sitio (tercerizada), e-commerce, más capital y un trade-in Specialized → ENVE que captura justo al cliente de ticket alto. La diferencia ya no está en qué ofrecemos — está en cómo: taller propio vs alquilado, comunidad original vs copiada, club vs tienda.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1938528" cy="224028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651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Propio vs alquilado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918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Nuestro taller es de casa: certificado, +10 años. El de LAP es un tercero que renta espacio, sin control de calidad ni garantía.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87752" y="2514600"/>
            <a:ext cx="1938528" cy="224028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9" name="Text 7"/>
          <p:cNvSpPr/>
          <p:nvPr/>
        </p:nvSpPr>
        <p:spPr>
          <a:xfrm>
            <a:off x="2724912" y="2651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vs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24912" y="32918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Pinarello + Cube vs Specialized + ENVE. Empate en número; Cube nos da rango completo de precio y segmento.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72584" y="2514600"/>
            <a:ext cx="1938528" cy="224028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2651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Trade-in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09744" y="32918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programa solo acepta Specialized para vender ENVE. Un trade-in multimarca nuestro lo supera por diseño.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57416" y="2514600"/>
            <a:ext cx="1938528" cy="224028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15" name="Text 13"/>
          <p:cNvSpPr/>
          <p:nvPr/>
        </p:nvSpPr>
        <p:spPr>
          <a:xfrm>
            <a:off x="6894576" y="26517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Domingo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94576" y="32918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D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Ambos cerramos el día que Cuenca rueda. El primero que abra, es dueño de ese día.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QUIÉN ES LAP.CCC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 jugada maestra: el ciclo Specialized → ENVE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329184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1C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3520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= marca imán de volumen aspiracional; ENVE = ultra-premium.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puente: reciben la Specialized usada como parte de pago de una ENVE.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ajuste de dinero del cliente es relativamente bajo — el upgrade se siente barato.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usada queda en su poder: probable reventa = segunda línea de ingreso y puerta de entrada de clientes nuevos.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Sostenerlo requiere capital — ahí pesa su ventaja financiera.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3977640" cy="329184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417320"/>
            <a:ext cx="64008" cy="329184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6002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GRIETA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92040" y="1965960"/>
            <a:ext cx="3520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mono-marca: solo sirve si ya tienes una Specialized. La gran mayoría del parque de bicis de Cuenca queda fuera.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taller que respalda la posventa no es suyo: es un tercero que alquila espacio. No controlan calidad, tiempos ni garantía.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fidelidad ni datos del cliente: el trade-in retiene la bici, no la relación.</a:t>
            </a:r>
            <a:endParaRPr lang="en-US" sz="11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trade-in multimarca con taller propio detrás lo supera por diseño, no por presupuesto.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FRENTE A FRENTE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Comparativa directa (corregida)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81381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  <a:gridCol w="32004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BF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DIMENSIÓN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BF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CRANK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C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BF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LAP.CCC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Taller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Propio, certificado, +10 años, multimarca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Tercerizado: un tercero renta espacio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Marcas de bici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Pinarello + Cube (rango completo)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E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Specialized + ENVE (premium performance)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EC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Trade-in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tenemos programa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Specialized usada → parte de pago de ENVE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2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Ruta, MTB, gravel, urbano, bikepacking, niños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E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 mismos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EC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Apparel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Universal Colours (1 marca, subexplotada)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Gobik, PNS, Oliver Otto (3 marcas)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2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Café / tercer lugar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Café de especialidad, baristas que pedalean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tiene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Fidelidad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Crank Pass (wallet digital)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tiene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Comunidad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Rodadas propias, Girls Ride Out — originales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Replican nuestras iniciativas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Horario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Cerrado domingos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EC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Cerrado domingos — oportunidad abierta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EC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E-commerce / capital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WhatsApp, sin carrito · capital limitado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WooCommerce completo · más capital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2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0060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6B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 = ventaja Crank · Lavanda = ventaja LAP · Gris = empate · Fuentes: lapccc.com, crank.ec, inteligencia interna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SWOT CRANK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Dónde estamos parados (versión honesta)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68496" cy="1627632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6304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FORTALEZAS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2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propio +10 años: controlamos calidad, garantía y relación.</a:t>
            </a:r>
            <a:endParaRPr lang="en-US" sz="92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2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Único ecosistema bici + café + taller propio de Cuenca.</a:t>
            </a:r>
            <a:endParaRPr lang="en-US" sz="92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2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Comunidad original (ellos copian, nosotros creamos) + Crank Pass.</a:t>
            </a:r>
            <a:endParaRPr lang="en-US" sz="92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2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Pinarello (prestigio) + Cube (rango completo) + Universal Colours.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4672584" y="1371600"/>
            <a:ext cx="3968496" cy="1627632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55464" y="146304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DEBILIDADES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55464" y="17373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2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trade-in/recompra: su mejor arma no tiene respuesta hoy.</a:t>
            </a:r>
            <a:endParaRPr lang="en-US" sz="92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2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capital para inventario y campañas.</a:t>
            </a:r>
            <a:endParaRPr lang="en-US" sz="92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2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e-commerce transaccional.</a:t>
            </a:r>
            <a:endParaRPr lang="en-US" sz="92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2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Colours subexplotada; domingos cerrados igual que ellos.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02920" y="3136392"/>
            <a:ext cx="3968496" cy="1627632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22783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3502152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2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Trade-in multimarca: aceptar cualquier bici usada (ellos solo Specialized).</a:t>
            </a:r>
            <a:endParaRPr lang="en-US" sz="92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2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Seminuevas certificadas con garantía de taller propio.</a:t>
            </a:r>
            <a:endParaRPr lang="en-US" sz="92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2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domingos antes que ellos. Capturar insatisfechos del taller tercerizado.</a:t>
            </a:r>
            <a:endParaRPr lang="en-US" sz="92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2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Loja/Azogues/Machala + turismo gravel.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672584" y="3136392"/>
            <a:ext cx="3968496" cy="1627632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3227832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AMENAZAS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55464" y="3502152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2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trade-in sigue capturando al cliente de ticket alto.</a:t>
            </a:r>
            <a:endParaRPr lang="en-US" sz="92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2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 capital aguanta guerras de precio e inventario de usadas.</a:t>
            </a:r>
            <a:endParaRPr lang="en-US" sz="92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2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internalizan taller o copian el trade-in multimarca, perdemos la ventana.</a:t>
            </a:r>
            <a:endParaRPr lang="en-US" sz="92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2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lanzan fidelidad o abren domingos primero, neutralizan nuestras jugadas.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ESTRATEGIA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F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Cuatro jugadas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oro intacta: no competir donde su dinero decide. La novedad: responder al trade-in con uno mejor por diseño, no por presupuesto.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1938528" cy="260604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2103120"/>
            <a:ext cx="1938528" cy="73152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860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RECOMPRA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F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“Renueva con Crank”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C9C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Trade-in multimarca: cualquier bici usada como parte de pago de una Pinarello/Cube. Ellos solo aceptan Specialized.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2587752" y="2103120"/>
            <a:ext cx="1938528" cy="260604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11" name="Shape 9"/>
          <p:cNvSpPr/>
          <p:nvPr/>
        </p:nvSpPr>
        <p:spPr>
          <a:xfrm>
            <a:off x="2587752" y="2103120"/>
            <a:ext cx="1938528" cy="73152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2" name="Text 10"/>
          <p:cNvSpPr/>
          <p:nvPr/>
        </p:nvSpPr>
        <p:spPr>
          <a:xfrm>
            <a:off x="2724912" y="22860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TALLER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24912" y="2560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F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Propio vs alquilado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24912" y="32004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C9C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“Mecánicos de casa, certificados, +10 años. Respondemos por cada ajuste.” Segunda opinión gratuita + garantía de fecha.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4672584" y="2103120"/>
            <a:ext cx="1938528" cy="260604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16" name="Shape 14"/>
          <p:cNvSpPr/>
          <p:nvPr/>
        </p:nvSpPr>
        <p:spPr>
          <a:xfrm>
            <a:off x="4672584" y="2103120"/>
            <a:ext cx="1938528" cy="73152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7" name="Text 15"/>
          <p:cNvSpPr/>
          <p:nvPr/>
        </p:nvSpPr>
        <p:spPr>
          <a:xfrm>
            <a:off x="4809744" y="22860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CLUB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9744" y="2560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F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Pertenencia + domingo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09744" y="32004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C9C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Crank Pass 2.0, calendario fijo, bike fit, Universal Colours como bandera — y abrir domingos antes que ellos.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6757416" y="2103120"/>
            <a:ext cx="1938528" cy="260604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57416" y="2103120"/>
            <a:ext cx="1938528" cy="73152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22" name="Text 20"/>
          <p:cNvSpPr/>
          <p:nvPr/>
        </p:nvSpPr>
        <p:spPr>
          <a:xfrm>
            <a:off x="6894576" y="22860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EXPANSIÓN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94576" y="25603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F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Donde no están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94576" y="320040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C9C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Crank Days (Loja, Azogues, Machala), e-commerce, turismo gravel, familias Cube, flotas corporativas.</a:t>
            </a:r>
            <a:endParaRPr lang="en-US" sz="9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JUGADA 1 · RECOMPRA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“Renueva con Crank” — trade-in multimarca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868680"/>
          </a:xfrm>
          <a:prstGeom prst="rect">
            <a:avLst/>
          </a:prstGeom>
          <a:solidFill>
            <a:srgbClr val="E1C3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8132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24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 solo acepta Specialized para vender ENVE. Nosotros aceptamos CUALQUIER marca usada como parte de pago de una Pinarello o Cube — coherente con nuestro ADN multimarca. Su trade-in alimenta una marca; el nuestro alimenta todo el ecosistema.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2514600"/>
            <a:ext cx="1938528" cy="219456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51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4C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Entra la usada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345643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Tasación transparente en el taller propio. Cualquier marca — todo el parque de Cuenca es elegible.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2587752" y="2514600"/>
            <a:ext cx="1938528" cy="219456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4912" y="2651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4C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724912" y="31089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 la nueva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24912" y="345643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de pago hacia Pinarello o Cube + plan de mantenimiento incluido el primer año.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4672584" y="2514600"/>
            <a:ext cx="1938528" cy="219456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2651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4C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09744" y="31089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 certifica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09744" y="345643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usada se reacondiciona en nuestro taller y se vende como Seminueva Certificada Crank, con garantía.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757416" y="2514600"/>
            <a:ext cx="1938528" cy="219456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94576" y="2651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94C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94576" y="31089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Vuelve a empezar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894576" y="3456432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seminueva vendida = cliente nuevo de entrada + futuro cliente de taller y de upgrade.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JUGADA 2 · TALLER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Taller propio vs taller alquilado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68496" cy="155448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64008" cy="155448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54533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mensaje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19202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“Taller propio. Mecánicos de casa, certificados, +10 años. Respondemos por cada ajuste.” La garantía la firma Crank, no un arrendatario. Comunicarlo sin nombrarlos.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4672584" y="1417320"/>
            <a:ext cx="3968496" cy="155448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72584" y="1417320"/>
            <a:ext cx="64008" cy="155448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154533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Segunda opinión gratuita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92024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sin costo para cualquier bici atendida en otro taller. Capturamos a los insatisfechos del tercerizado de LAP.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502920" y="3136392"/>
            <a:ext cx="3968496" cy="155448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136392"/>
            <a:ext cx="64008" cy="155448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32644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Planes de mantenimiento anual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" y="363931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servicios prepagados con descuento: ingreso predecible y cliente amarrado 12 meses.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4672584" y="3136392"/>
            <a:ext cx="3968496" cy="155448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72584" y="3136392"/>
            <a:ext cx="64008" cy="155448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8" name="Text 16"/>
          <p:cNvSpPr/>
          <p:nvPr/>
        </p:nvSpPr>
        <p:spPr>
          <a:xfrm>
            <a:off x="4873752" y="32644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Garantía de fecha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363931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puntual o el servicio es gratis. Un tercero que alquila espacio no puede prometer eso.</a:t>
            </a:r>
            <a:endParaRPr lang="en-US" sz="10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JUGADA 3 · CLUB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tienda a club — y dueños del domingo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68496" cy="155448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64008" cy="1554480"/>
          </a:xfrm>
          <a:prstGeom prst="rect">
            <a:avLst/>
          </a:prstGeom>
          <a:solidFill>
            <a:srgbClr val="E1C3FF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54533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Abrir los domingos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19202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 día: rodada que sale y vuelve a Crank + café post-ride + taller express. Ambos cerramos hoy; el primero que abra es dueño del día de rodada. Costo bajo, señal enorme.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672584" y="1417320"/>
            <a:ext cx="3968496" cy="155448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72584" y="1417320"/>
            <a:ext cx="64008" cy="1554480"/>
          </a:xfrm>
          <a:prstGeom prst="rect">
            <a:avLst/>
          </a:prstGeom>
          <a:solidFill>
            <a:srgbClr val="E1C3FF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154533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Crank Pass 2.0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9202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Niveles Rider → Gregario → Capitán: prioridad de taller, café del socio, acceso anticipado a seminuevas certificadas.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02920" y="3136392"/>
            <a:ext cx="3968496" cy="155448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136392"/>
            <a:ext cx="64008" cy="1554480"/>
          </a:xfrm>
          <a:prstGeom prst="rect">
            <a:avLst/>
          </a:prstGeom>
          <a:solidFill>
            <a:srgbClr val="E1C3FF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32644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Universal Colours como bandera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" y="3639312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Dejar de subexplotarla: drops limitados, kit de la comunidad Crank, visible en cada rodada. Marca UK premium que LAP no tiene.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672584" y="3136392"/>
            <a:ext cx="3968496" cy="155448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72584" y="3136392"/>
            <a:ext cx="64008" cy="1554480"/>
          </a:xfrm>
          <a:prstGeom prst="rect">
            <a:avLst/>
          </a:prstGeom>
          <a:solidFill>
            <a:srgbClr val="E1C3FF"/>
          </a:solidFill>
          <a:ln/>
        </p:spPr>
      </p:sp>
      <p:sp>
        <p:nvSpPr>
          <p:cNvPr id="18" name="Text 16"/>
          <p:cNvSpPr/>
          <p:nvPr/>
        </p:nvSpPr>
        <p:spPr>
          <a:xfrm>
            <a:off x="4873752" y="32644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Bike fit + contenido de autoridad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3639312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Bike fit respaldado por taller propio. Serie “Del taller” con nuestros mecánicos — lo único que un tercerizado no puede protagonizar.</a:t>
            </a:r>
            <a:endParaRPr lang="en-US" sz="10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JUGADA 4 · EXPANSIÓN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Crecer donde LAP no está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68496" cy="155448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17320"/>
            <a:ext cx="64008" cy="155448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54533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F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Geografía sin defensor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19202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9C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“Crank Days” mensuales en Loja, Azogues o Machala: taller móvil + rodada + venta, antes de invertir en local.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672584" y="1417320"/>
            <a:ext cx="3968496" cy="155448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9" name="Shape 7"/>
          <p:cNvSpPr/>
          <p:nvPr/>
        </p:nvSpPr>
        <p:spPr>
          <a:xfrm>
            <a:off x="4672584" y="1417320"/>
            <a:ext cx="64008" cy="155448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154533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F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E-commerce nacional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73752" y="19202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9C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Accesorios y nutrición primero. Las seminuevas certificadas como categoría estrella online — nadie más la tiene con garantía.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02920" y="3136392"/>
            <a:ext cx="3968496" cy="155448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3136392"/>
            <a:ext cx="64008" cy="155448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32644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F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Turismo de aventura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" y="3639312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9C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Paquetes gravel/bikepacking (Cajas, Ingapirca, Ruta del Tren) con alquiler. La flota de alquiler puede salir de los trade-ins.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672584" y="3136392"/>
            <a:ext cx="3968496" cy="155448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17" name="Shape 15"/>
          <p:cNvSpPr/>
          <p:nvPr/>
        </p:nvSpPr>
        <p:spPr>
          <a:xfrm>
            <a:off x="4672584" y="3136392"/>
            <a:ext cx="64008" cy="155448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18" name="Text 16"/>
          <p:cNvSpPr/>
          <p:nvPr/>
        </p:nvSpPr>
        <p:spPr>
          <a:xfrm>
            <a:off x="4873752" y="326440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F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Familias Cube + empresas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73752" y="3639312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C9C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 bici + clínica + trade-in de crecimiento (la bici del niño como parte de pago de la siguiente talla). Flotas corporativas con el taller propio.</a:t>
            </a:r>
            <a:endParaRPr lang="en-US" sz="10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RECUPERACIÓN DE CLIENTES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Playbook de win-back (actualizado)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06040" cy="320040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276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C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22128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Lista y diagnóstico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Inactivos +6 meses, etiquetados por valor. Llamar a los 20 más valiosos — preguntar, no vender. Validar: ¿se fueron por el trade-in, por producto o por precio?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606040" cy="320040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6276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C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0" y="22128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Oferta de regreso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74720" y="260604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personal: revisión gratuita en taller propio + café + doble sello. A los que compraron en LAP: “Renueva con Crank” les recibe esa bici — incluso una Specialized — hacia una Pinarello/Cube. Su arma, nuestra puerta de regreso.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080760" y="1463040"/>
            <a:ext cx="2606040" cy="3200400"/>
          </a:xfrm>
          <a:prstGeom prst="rect">
            <a:avLst/>
          </a:prstGeom>
          <a:solidFill>
            <a:srgbClr val="FAF6E9"/>
          </a:solidFill>
          <a:ln w="9525">
            <a:solidFill>
              <a:srgbClr val="C9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6276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4C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63640" y="221284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Amarre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260604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44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mantenimiento anual o inscripción a la siguiente rodada. Medir: % recuperados activos a 90 días y cuántas bicis “de LAP” entran a taller o trade-in.</a:t>
            </a:r>
            <a:endParaRPr lang="en-US" sz="10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ROADMAP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 días de ejecución (v2)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06040" cy="320040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1–30 · BASE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Diseñar y lanzar “Renueva con Crank”: tasación, marcas, % parte de pago.</a:t>
            </a:r>
            <a:endParaRPr lang="en-US" sz="103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Reposicionar taller: “propio, de casa” + segunda opinión gratuita.</a:t>
            </a:r>
            <a:endParaRPr lang="en-US" sz="103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Win-back con los 50 clientes de mayor valor.</a:t>
            </a:r>
            <a:endParaRPr lang="en-US" sz="103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de domingo abierto: 4 domingos seguidos, medio día.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606040" cy="320040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31–60 · MONETIZAR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2011680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Primeras seminuevas certificadas a la venta.</a:t>
            </a:r>
            <a:endParaRPr lang="en-US" sz="103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Planes de mantenimiento + Crank Pass 2.0.</a:t>
            </a:r>
            <a:endParaRPr lang="en-US" sz="103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Relanzar Universal Colours: drop limitado + kit comunidad.</a:t>
            </a:r>
            <a:endParaRPr lang="en-US" sz="103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v1: accesorios, nutrición y seminuevas.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6080760" y="1463040"/>
            <a:ext cx="2606040" cy="3200400"/>
          </a:xfrm>
          <a:prstGeom prst="rect">
            <a:avLst/>
          </a:prstGeom>
          <a:solidFill>
            <a:srgbClr val="20302A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627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61–90 · EXPANDIR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63640" y="2011680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“Crank Day” en Loja o Azogues.</a:t>
            </a:r>
            <a:endParaRPr lang="en-US" sz="103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paquete de turismo gravel con hotel aliado.</a:t>
            </a:r>
            <a:endParaRPr lang="en-US" sz="103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familias Cube: primera bici + trade-in de crecimiento.</a:t>
            </a:r>
            <a:endParaRPr lang="en-US" sz="103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30" dirty="0">
                <a:solidFill>
                  <a:srgbClr val="E8E4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Revisión de KPIs: duplicar lo que funcionó.</a:t>
            </a:r>
            <a:endParaRPr lang="en-US" sz="10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94C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ROADMAP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KPIs a 90 días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463040"/>
                <a:gridCol w="2651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BF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BF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0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BF8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META 90 DÍAS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4C3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Trade-ins “Renueva con Crank” recibidos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(8 ventas de bici nueva asociadas)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Seminuevas certificadas vendidas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Clientes perdidos recuperados (activos)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de 50 contactados (30%)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Segundas opiniones de taller / mes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(≥50% convertidas en servicio)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Planes de mantenimiento anual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Asistencia a domingos Crank (piloto)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30+ personas promedio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Venta Universal Colours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 base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2× línea base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Miembros activos Crank Pass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 base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030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2× línea base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CIERRE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8046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BF8E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LAP vende la bici y terceriza la relación: taller alquilado, trade-in de una sola marca, comunidad prestada. Crank es dueño de todo el ciclo: </a:t>
            </a:r>
            <a:pPr indent="0" marL="0">
              <a:buNone/>
            </a:pPr>
            <a:r>
              <a:rPr lang="en-US" sz="2100" b="1" dirty="0">
                <a:solidFill>
                  <a:srgbClr val="C8F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vendemos, mantenemos, recompramos, certificamos y volvemos a vender — y alrededor de ese ciclo vive un club.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48640" y="37033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D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Renueva multimarca · Taller propio · Domingos abiertos · Universal Colours — cuatro jugadas que su dinero no compra rápido.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4343400"/>
            <a:ext cx="502920" cy="9144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4526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6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CRANK · Cuenca, Ecuador · Junio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Crank vs LAP.ccc — Análisis Competitivo v2</dc:title>
  <dc:subject>PptxGenJS Presentation</dc:subject>
  <dc:creator>Crank</dc:creator>
  <cp:lastModifiedBy>Crank</cp:lastModifiedBy>
  <cp:revision>1</cp:revision>
  <dcterms:created xsi:type="dcterms:W3CDTF">2026-06-12T17:07:13Z</dcterms:created>
  <dcterms:modified xsi:type="dcterms:W3CDTF">2026-06-12T17:07:13Z</dcterms:modified>
</cp:coreProperties>
</file>