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60120" cy="960120"/>
          </a:xfrm>
          <a:prstGeom prst="ellipse">
            <a:avLst/>
          </a:prstGeom>
          <a:solidFill>
            <a:srgbClr val="1E433A"/>
          </a:solidFill>
          <a:ln w="25400">
            <a:solidFill>
              <a:srgbClr val="C7D9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D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MARCA · BENCHMARK · MARKETING · AUTOMATIZACIÓN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llevar la marca Crank al nivel de las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mejores marcas de ciclismo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@crank.ec se vea más profesional y natural, integre taller, rodadas y café sin saturar, y crezca en Ecuador — con Claude (Cowork) como centro de operaciones.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Crank · Cuenca, Ecuador · Junio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Dónde está Crank hoy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Crank ya tiene lo más difícil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concepto diferenciado (bici + café + taller multimarca), buena fotografía y comunidad activa. El reto no es la calidad — es la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5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y la lectura de marca.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80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3,700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(242 posts)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6517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880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61/100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6160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marca (meta 85)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6517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880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3.9×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55080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alcance vs. República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26517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2880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44000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automatización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0908792" cy="1463040"/>
          </a:xfrm>
          <a:prstGeom prst="roundRect">
            <a:avLst>
              <a:gd name="adj" fmla="val 6250"/>
            </a:avLst>
          </a:prstGeom>
          <a:solidFill>
            <a:srgbClr val="15302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D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tesis en una frase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Crank no necesita publicar más ni verse más “comercial”. Necesita un sistema de marca consistente y un motor de operación automatizado que convierta su mejor activo —la comunidad y el taller— en crecimiento medible.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vemos en @crank.ec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BFAF5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Fortalezas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único: bici + café + taller multimarca</a:t>
            </a:r>
            <a:endParaRPr lang="en-US" sz="14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 editorial de buen nivel</a:t>
            </a:r>
            <a:endParaRPr lang="en-US" sz="14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real: Ingapirca, Ruta del Tren, Girls Ride Out</a:t>
            </a:r>
            <a:endParaRPr lang="en-US" sz="14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premium: Canyon, Colnago, DT Swiss, Continental</a:t>
            </a:r>
            <a:endParaRPr lang="en-US" sz="14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fidelidad activo (tarjeta digital)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6ECE9"/>
          </a:solidFill>
          <a:ln w="12700">
            <a:solidFill>
              <a:srgbClr val="E4C9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Lo que resta profesionalismo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73952" y="228600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sin sistema visual (mezcla estilos y tipografías)</a:t>
            </a:r>
            <a:endParaRPr lang="en-US" sz="14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 débil: lista categorías, no el porqué</a:t>
            </a:r>
            <a:endParaRPr lang="en-US" sz="14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= URL cruda de wallet, sin link-in-bio</a:t>
            </a:r>
            <a:endParaRPr lang="en-US" sz="14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con nombres y portadas inconsistentes</a:t>
            </a:r>
            <a:endParaRPr lang="en-US" sz="14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social bajo: sigue 1,103 con 3,700 seguidores</a:t>
            </a:r>
            <a:endParaRPr lang="en-US" sz="14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embudo claro de conversión a taller/venta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COMPETITIVO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Crank vs. 3 marcas referentes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1947672"/>
                <a:gridCol w="2240280"/>
                <a:gridCol w="2240280"/>
                <a:gridCol w="2240280"/>
                <a:gridCol w="2240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Crank (EC)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Bicio (EC)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República No.1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Moloko (UE)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Seguidores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 / Sigue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 / 1,103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1,279 / 3,357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1,087 / 315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1,012 / 1,430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Bici+café+taller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Tienda+taller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Coffee&amp;Cycling Temple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Aventuras 'join'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 valor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Implícita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Servicio/oferta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'Culto a la bici'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Founder-led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 visual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Bueno, inconsistente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Comercial, recargado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Premium, consistente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Editorial de viaje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Directa (ofertas)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+ cultura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Viajes pagados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Espectro: par local (Bicio) → premium regional (República) → marca global de comunidad (Moloko).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Calificación de la página actual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Crank hoy (barra) vs. nivel del mejor referente (marca roja). Total: 61/100 · Meta: 85/100.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47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&amp; consistencia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23360" y="1965960"/>
            <a:ext cx="6035040" cy="256032"/>
          </a:xfrm>
          <a:prstGeom prst="roundRect">
            <a:avLst>
              <a:gd name="adj" fmla="val 14286"/>
            </a:avLst>
          </a:prstGeom>
          <a:solidFill>
            <a:srgbClr val="ECE7DA"/>
          </a:solidFill>
          <a:ln/>
        </p:spPr>
      </p:sp>
      <p:sp>
        <p:nvSpPr>
          <p:cNvPr id="7" name="Shape 5"/>
          <p:cNvSpPr/>
          <p:nvPr/>
        </p:nvSpPr>
        <p:spPr>
          <a:xfrm>
            <a:off x="4023360" y="1965960"/>
            <a:ext cx="3621024" cy="256032"/>
          </a:xfrm>
          <a:prstGeom prst="roundRect">
            <a:avLst>
              <a:gd name="adj" fmla="val 14286"/>
            </a:avLst>
          </a:prstGeom>
          <a:solidFill>
            <a:srgbClr val="8FA31E"/>
          </a:solidFill>
          <a:ln/>
        </p:spPr>
      </p:sp>
      <p:sp>
        <p:nvSpPr>
          <p:cNvPr id="8" name="Shape 6"/>
          <p:cNvSpPr/>
          <p:nvPr/>
        </p:nvSpPr>
        <p:spPr>
          <a:xfrm>
            <a:off x="9454896" y="1929384"/>
            <a:ext cx="0" cy="329184"/>
          </a:xfrm>
          <a:prstGeom prst="line">
            <a:avLst/>
          </a:prstGeom>
          <a:noFill/>
          <a:ln w="25400">
            <a:solidFill>
              <a:srgbClr val="B450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95560" y="19476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meta 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682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 / tagline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2386584"/>
            <a:ext cx="6035040" cy="256032"/>
          </a:xfrm>
          <a:prstGeom prst="roundRect">
            <a:avLst>
              <a:gd name="adj" fmla="val 14286"/>
            </a:avLst>
          </a:prstGeom>
          <a:solidFill>
            <a:srgbClr val="ECE7DA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2386584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8FA31E"/>
          </a:solidFill>
          <a:ln/>
        </p:spPr>
      </p:sp>
      <p:sp>
        <p:nvSpPr>
          <p:cNvPr id="13" name="Shape 11"/>
          <p:cNvSpPr/>
          <p:nvPr/>
        </p:nvSpPr>
        <p:spPr>
          <a:xfrm>
            <a:off x="9454896" y="2350008"/>
            <a:ext cx="0" cy="329184"/>
          </a:xfrm>
          <a:prstGeom prst="line">
            <a:avLst/>
          </a:prstGeom>
          <a:noFill/>
          <a:ln w="25400">
            <a:solidFill>
              <a:srgbClr val="B450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95560" y="23682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meta 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 / arte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2807208"/>
            <a:ext cx="6035040" cy="256032"/>
          </a:xfrm>
          <a:prstGeom prst="roundRect">
            <a:avLst>
              <a:gd name="adj" fmla="val 14286"/>
            </a:avLst>
          </a:prstGeom>
          <a:solidFill>
            <a:srgbClr val="ECE7DA"/>
          </a:solidFill>
          <a:ln/>
        </p:spPr>
      </p:sp>
      <p:sp>
        <p:nvSpPr>
          <p:cNvPr id="17" name="Shape 15"/>
          <p:cNvSpPr/>
          <p:nvPr/>
        </p:nvSpPr>
        <p:spPr>
          <a:xfrm>
            <a:off x="4023360" y="2807208"/>
            <a:ext cx="4828032" cy="256032"/>
          </a:xfrm>
          <a:prstGeom prst="roundRect">
            <a:avLst>
              <a:gd name="adj" fmla="val 14286"/>
            </a:avLst>
          </a:prstGeom>
          <a:solidFill>
            <a:srgbClr val="8FA31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0" y="2770632"/>
            <a:ext cx="0" cy="329184"/>
          </a:xfrm>
          <a:prstGeom prst="line">
            <a:avLst/>
          </a:prstGeom>
          <a:noFill/>
          <a:ln w="25400">
            <a:solidFill>
              <a:srgbClr val="B450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95560" y="27889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meta 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2095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&amp; link-in-bio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0" y="3227832"/>
            <a:ext cx="6035040" cy="256032"/>
          </a:xfrm>
          <a:prstGeom prst="roundRect">
            <a:avLst>
              <a:gd name="adj" fmla="val 14286"/>
            </a:avLst>
          </a:prstGeom>
          <a:solidFill>
            <a:srgbClr val="ECE7DA"/>
          </a:solidFill>
          <a:ln/>
        </p:spPr>
      </p:sp>
      <p:sp>
        <p:nvSpPr>
          <p:cNvPr id="22" name="Shape 20"/>
          <p:cNvSpPr/>
          <p:nvPr/>
        </p:nvSpPr>
        <p:spPr>
          <a:xfrm>
            <a:off x="4023360" y="3227832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8FA31E"/>
          </a:solidFill>
          <a:ln/>
        </p:spPr>
      </p:sp>
      <p:sp>
        <p:nvSpPr>
          <p:cNvPr id="23" name="Shape 21"/>
          <p:cNvSpPr/>
          <p:nvPr/>
        </p:nvSpPr>
        <p:spPr>
          <a:xfrm>
            <a:off x="9454896" y="3191256"/>
            <a:ext cx="0" cy="329184"/>
          </a:xfrm>
          <a:prstGeom prst="line">
            <a:avLst/>
          </a:prstGeom>
          <a:noFill/>
          <a:ln w="25400">
            <a:solidFill>
              <a:srgbClr val="B450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95560" y="320954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meta 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630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23360" y="3648456"/>
            <a:ext cx="6035040" cy="256032"/>
          </a:xfrm>
          <a:prstGeom prst="roundRect">
            <a:avLst>
              <a:gd name="adj" fmla="val 14286"/>
            </a:avLst>
          </a:prstGeom>
          <a:solidFill>
            <a:srgbClr val="ECE7DA"/>
          </a:solidFill>
          <a:ln/>
        </p:spPr>
      </p:sp>
      <p:sp>
        <p:nvSpPr>
          <p:cNvPr id="27" name="Shape 25"/>
          <p:cNvSpPr/>
          <p:nvPr/>
        </p:nvSpPr>
        <p:spPr>
          <a:xfrm>
            <a:off x="4023360" y="3648456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8FA31E"/>
          </a:solidFill>
          <a:ln/>
        </p:spPr>
      </p:sp>
      <p:sp>
        <p:nvSpPr>
          <p:cNvPr id="28" name="Shape 26"/>
          <p:cNvSpPr/>
          <p:nvPr/>
        </p:nvSpPr>
        <p:spPr>
          <a:xfrm>
            <a:off x="9454896" y="3611880"/>
            <a:ext cx="0" cy="329184"/>
          </a:xfrm>
          <a:prstGeom prst="line">
            <a:avLst/>
          </a:prstGeom>
          <a:noFill/>
          <a:ln w="25400">
            <a:solidFill>
              <a:srgbClr val="B450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95560" y="3630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meta 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0507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de contenido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23360" y="4069080"/>
            <a:ext cx="6035040" cy="256032"/>
          </a:xfrm>
          <a:prstGeom prst="roundRect">
            <a:avLst>
              <a:gd name="adj" fmla="val 14286"/>
            </a:avLst>
          </a:prstGeom>
          <a:solidFill>
            <a:srgbClr val="ECE7DA"/>
          </a:solidFill>
          <a:ln/>
        </p:spPr>
      </p:sp>
      <p:sp>
        <p:nvSpPr>
          <p:cNvPr id="32" name="Shape 30"/>
          <p:cNvSpPr/>
          <p:nvPr/>
        </p:nvSpPr>
        <p:spPr>
          <a:xfrm>
            <a:off x="4023360" y="4069080"/>
            <a:ext cx="4224528" cy="256032"/>
          </a:xfrm>
          <a:prstGeom prst="roundRect">
            <a:avLst>
              <a:gd name="adj" fmla="val 14286"/>
            </a:avLst>
          </a:prstGeom>
          <a:solidFill>
            <a:srgbClr val="8FA31E"/>
          </a:solidFill>
          <a:ln/>
        </p:spPr>
      </p:sp>
      <p:sp>
        <p:nvSpPr>
          <p:cNvPr id="33" name="Shape 31"/>
          <p:cNvSpPr/>
          <p:nvPr/>
        </p:nvSpPr>
        <p:spPr>
          <a:xfrm>
            <a:off x="9454896" y="4032504"/>
            <a:ext cx="0" cy="329184"/>
          </a:xfrm>
          <a:prstGeom prst="line">
            <a:avLst/>
          </a:prstGeom>
          <a:noFill/>
          <a:ln w="25400">
            <a:solidFill>
              <a:srgbClr val="B450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95560" y="40507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meta 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4714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&amp; engagement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23360" y="4489704"/>
            <a:ext cx="6035040" cy="256032"/>
          </a:xfrm>
          <a:prstGeom prst="roundRect">
            <a:avLst>
              <a:gd name="adj" fmla="val 14286"/>
            </a:avLst>
          </a:prstGeom>
          <a:solidFill>
            <a:srgbClr val="ECE7DA"/>
          </a:solidFill>
          <a:ln/>
        </p:spPr>
      </p:sp>
      <p:sp>
        <p:nvSpPr>
          <p:cNvPr id="37" name="Shape 35"/>
          <p:cNvSpPr/>
          <p:nvPr/>
        </p:nvSpPr>
        <p:spPr>
          <a:xfrm>
            <a:off x="4023360" y="4489704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8FA31E"/>
          </a:solidFill>
          <a:ln/>
        </p:spPr>
      </p:sp>
      <p:sp>
        <p:nvSpPr>
          <p:cNvPr id="38" name="Shape 36"/>
          <p:cNvSpPr/>
          <p:nvPr/>
        </p:nvSpPr>
        <p:spPr>
          <a:xfrm>
            <a:off x="9454896" y="4453128"/>
            <a:ext cx="0" cy="329184"/>
          </a:xfrm>
          <a:prstGeom prst="line">
            <a:avLst/>
          </a:prstGeom>
          <a:noFill/>
          <a:ln w="25400">
            <a:solidFill>
              <a:srgbClr val="B450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95560" y="44714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meta 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4892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Rodadas / eventos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023360" y="4910328"/>
            <a:ext cx="6035040" cy="256032"/>
          </a:xfrm>
          <a:prstGeom prst="roundRect">
            <a:avLst>
              <a:gd name="adj" fmla="val 14286"/>
            </a:avLst>
          </a:prstGeom>
          <a:solidFill>
            <a:srgbClr val="ECE7DA"/>
          </a:solidFill>
          <a:ln/>
        </p:spPr>
      </p:sp>
      <p:sp>
        <p:nvSpPr>
          <p:cNvPr id="42" name="Shape 40"/>
          <p:cNvSpPr/>
          <p:nvPr/>
        </p:nvSpPr>
        <p:spPr>
          <a:xfrm>
            <a:off x="4023360" y="4910328"/>
            <a:ext cx="4224528" cy="256032"/>
          </a:xfrm>
          <a:prstGeom prst="roundRect">
            <a:avLst>
              <a:gd name="adj" fmla="val 14286"/>
            </a:avLst>
          </a:prstGeom>
          <a:solidFill>
            <a:srgbClr val="8FA31E"/>
          </a:solidFill>
          <a:ln/>
        </p:spPr>
      </p:sp>
      <p:sp>
        <p:nvSpPr>
          <p:cNvPr id="43" name="Shape 41"/>
          <p:cNvSpPr/>
          <p:nvPr/>
        </p:nvSpPr>
        <p:spPr>
          <a:xfrm>
            <a:off x="10058400" y="4873752"/>
            <a:ext cx="0" cy="329184"/>
          </a:xfrm>
          <a:prstGeom prst="line">
            <a:avLst/>
          </a:prstGeom>
          <a:noFill/>
          <a:ln w="25400">
            <a:solidFill>
              <a:srgbClr val="B4503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95560" y="48920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meta 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53126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/ video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023360" y="5330952"/>
            <a:ext cx="6035040" cy="256032"/>
          </a:xfrm>
          <a:prstGeom prst="roundRect">
            <a:avLst>
              <a:gd name="adj" fmla="val 14286"/>
            </a:avLst>
          </a:prstGeom>
          <a:solidFill>
            <a:srgbClr val="ECE7DA"/>
          </a:solidFill>
          <a:ln/>
        </p:spPr>
      </p:sp>
      <p:sp>
        <p:nvSpPr>
          <p:cNvPr id="47" name="Shape 45"/>
          <p:cNvSpPr/>
          <p:nvPr/>
        </p:nvSpPr>
        <p:spPr>
          <a:xfrm>
            <a:off x="4023360" y="5330952"/>
            <a:ext cx="3621024" cy="256032"/>
          </a:xfrm>
          <a:prstGeom prst="roundRect">
            <a:avLst>
              <a:gd name="adj" fmla="val 14286"/>
            </a:avLst>
          </a:prstGeom>
          <a:solidFill>
            <a:srgbClr val="8FA31E"/>
          </a:solidFill>
          <a:ln/>
        </p:spPr>
      </p:sp>
      <p:sp>
        <p:nvSpPr>
          <p:cNvPr id="48" name="Shape 46"/>
          <p:cNvSpPr/>
          <p:nvPr/>
        </p:nvSpPr>
        <p:spPr>
          <a:xfrm>
            <a:off x="9454896" y="5294376"/>
            <a:ext cx="0" cy="329184"/>
          </a:xfrm>
          <a:prstGeom prst="line">
            <a:avLst/>
          </a:prstGeom>
          <a:noFill/>
          <a:ln w="25400">
            <a:solidFill>
              <a:srgbClr val="B4503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95560" y="53126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meta 9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57332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 venta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023360" y="5751576"/>
            <a:ext cx="6035040" cy="256032"/>
          </a:xfrm>
          <a:prstGeom prst="roundRect">
            <a:avLst>
              <a:gd name="adj" fmla="val 14286"/>
            </a:avLst>
          </a:prstGeom>
          <a:solidFill>
            <a:srgbClr val="ECE7DA"/>
          </a:solidFill>
          <a:ln/>
        </p:spPr>
      </p:sp>
      <p:sp>
        <p:nvSpPr>
          <p:cNvPr id="52" name="Shape 50"/>
          <p:cNvSpPr/>
          <p:nvPr/>
        </p:nvSpPr>
        <p:spPr>
          <a:xfrm>
            <a:off x="4023360" y="5751576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8FA31E"/>
          </a:solidFill>
          <a:ln/>
        </p:spPr>
      </p:sp>
      <p:sp>
        <p:nvSpPr>
          <p:cNvPr id="53" name="Shape 51"/>
          <p:cNvSpPr/>
          <p:nvPr/>
        </p:nvSpPr>
        <p:spPr>
          <a:xfrm>
            <a:off x="8851392" y="5715000"/>
            <a:ext cx="0" cy="329184"/>
          </a:xfrm>
          <a:prstGeom prst="line">
            <a:avLst/>
          </a:prstGeom>
          <a:noFill/>
          <a:ln w="25400">
            <a:solidFill>
              <a:srgbClr val="B4503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95560" y="57332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meta 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BRECHAS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falta para llegar a su nivel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5079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Brecha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hacen los referentes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para Crank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visual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se lee como una marca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paleta + 3 plantillas + ritmo de grid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 de 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Tagline memorable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Tagline propio en bio y portadas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 &amp; enlaces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Link-in-bio con CTAs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taller · Rodada · WhatsApp · Tarjeta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Portadas unificadas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portadas con el mismo estilo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Autoridad social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Siguen pocas cuentas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Reducir 'siguiendo' + más Reels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 en cada pieza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 fijo por pilar + destacados de producto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Storytelling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Fundadores y clientes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 'ME FUNDÍ', testimonios, rutas insignia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&amp; FEED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profesional y natural — sin saturar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máximo 1 de cada 5 piezas es venta directa. El resto construye comunidad y autoridad.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272638" cy="548640"/>
          </a:xfrm>
          <a:prstGeom prst="rect">
            <a:avLst/>
          </a:prstGeom>
          <a:solidFill>
            <a:srgbClr val="1530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32726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12718" y="2011680"/>
            <a:ext cx="2181758" cy="548640"/>
          </a:xfrm>
          <a:prstGeom prst="rect">
            <a:avLst/>
          </a:prstGeom>
          <a:solidFill>
            <a:srgbClr val="1E433A"/>
          </a:solidFill>
          <a:ln/>
        </p:spPr>
      </p:sp>
      <p:sp>
        <p:nvSpPr>
          <p:cNvPr id="8" name="Text 6"/>
          <p:cNvSpPr/>
          <p:nvPr/>
        </p:nvSpPr>
        <p:spPr>
          <a:xfrm>
            <a:off x="3912718" y="2011680"/>
            <a:ext cx="21817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4476" y="2011680"/>
            <a:ext cx="2181758" cy="548640"/>
          </a:xfrm>
          <a:prstGeom prst="rect">
            <a:avLst/>
          </a:prstGeom>
          <a:solidFill>
            <a:srgbClr val="8FA31E"/>
          </a:solidFill>
          <a:ln/>
        </p:spPr>
      </p:sp>
      <p:sp>
        <p:nvSpPr>
          <p:cNvPr id="10" name="Text 8"/>
          <p:cNvSpPr/>
          <p:nvPr/>
        </p:nvSpPr>
        <p:spPr>
          <a:xfrm>
            <a:off x="6094476" y="2011680"/>
            <a:ext cx="21817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76234" y="2011680"/>
            <a:ext cx="1636319" cy="548640"/>
          </a:xfrm>
          <a:prstGeom prst="rect">
            <a:avLst/>
          </a:prstGeom>
          <a:solidFill>
            <a:srgbClr val="6E787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6234" y="2011680"/>
            <a:ext cx="16363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912553" y="2011680"/>
            <a:ext cx="1636319" cy="548640"/>
          </a:xfrm>
          <a:prstGeom prst="rect">
            <a:avLst/>
          </a:prstGeom>
          <a:solidFill>
            <a:srgbClr val="3F7D54"/>
          </a:solidFill>
          <a:ln/>
        </p:spPr>
      </p:sp>
      <p:sp>
        <p:nvSpPr>
          <p:cNvPr id="14" name="Text 12"/>
          <p:cNvSpPr/>
          <p:nvPr/>
        </p:nvSpPr>
        <p:spPr>
          <a:xfrm>
            <a:off x="9912553" y="2011680"/>
            <a:ext cx="163631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FBFAF5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358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Comunidad &amp; Rodadas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Calendario, Girls Ride Out, retos, Strava, recaps. El corazón de la marca.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97680" y="292608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FBFAF5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30358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Taller &amp; Expertise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80560" y="342900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'ABC de tu bici', tips, antes/después, multimarca. Genera confianza y citas.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55280" y="292608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FBFAF5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30358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A3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Producto &amp; Marcas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138160" y="342900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Canyon, Colnago, DT Swiss, Continental, nutrición — siempre con contexto.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FBFAF5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5445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78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Café &amp; Lifestyle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493776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Crank Coffee, cultura, encuentros. Lo que hace de Crank un lugar.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97680" y="443484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FBFAF5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45445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7D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· Clientes / UGC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480560" y="493776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locales, testimonios, #RuedaConCrank. Prueba social.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D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MARKETING · ECUADOR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Posicionamiento en el mercado ecuatoriano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1828800"/>
          </a:xfrm>
          <a:prstGeom prst="roundRect">
            <a:avLst>
              <a:gd name="adj" fmla="val 5000"/>
            </a:avLst>
          </a:prstGeom>
          <a:solidFill>
            <a:srgbClr val="1E433A"/>
          </a:solidFill>
          <a:ln w="12700">
            <a:solidFill>
              <a:srgbClr val="C7D9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57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“Crank es el punto de encuentro del ciclismo en Cuenca y el Austro: bici, café y taller multimarca para una comunidad que rueda en serio.”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3063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Taglines: 'Donde rueda Cuenca' · 'Pedalea. Repara. Conecta.' · 'Tu casa sobre ruedas.'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Segmentos objetivo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2057400" cy="731520"/>
          </a:xfrm>
          <a:prstGeom prst="roundRect">
            <a:avLst>
              <a:gd name="adj" fmla="val 12500"/>
            </a:avLst>
          </a:prstGeom>
          <a:solidFill>
            <a:srgbClr val="1E433A"/>
          </a:solidFill>
          <a:ln w="12700">
            <a:solidFill>
              <a:srgbClr val="3A5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434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Roadies / performance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4434840"/>
            <a:ext cx="2057400" cy="731520"/>
          </a:xfrm>
          <a:prstGeom prst="roundRect">
            <a:avLst>
              <a:gd name="adj" fmla="val 12500"/>
            </a:avLst>
          </a:prstGeom>
          <a:solidFill>
            <a:srgbClr val="1E433A"/>
          </a:solidFill>
          <a:ln w="12700">
            <a:solidFill>
              <a:srgbClr val="3A5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4434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 &amp; gravel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4434840"/>
            <a:ext cx="2057400" cy="731520"/>
          </a:xfrm>
          <a:prstGeom prst="roundRect">
            <a:avLst>
              <a:gd name="adj" fmla="val 12500"/>
            </a:avLst>
          </a:prstGeom>
          <a:solidFill>
            <a:srgbClr val="1E433A"/>
          </a:solidFill>
          <a:ln w="12700">
            <a:solidFill>
              <a:srgbClr val="3A5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4434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 (Girls Ride Out)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4434840"/>
            <a:ext cx="2057400" cy="731520"/>
          </a:xfrm>
          <a:prstGeom prst="roundRect">
            <a:avLst>
              <a:gd name="adj" fmla="val 12500"/>
            </a:avLst>
          </a:prstGeom>
          <a:solidFill>
            <a:srgbClr val="1E433A"/>
          </a:solidFill>
          <a:ln w="12700">
            <a:solidFill>
              <a:srgbClr val="3A5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4434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/ commuters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18320" y="4434840"/>
            <a:ext cx="2057400" cy="731520"/>
          </a:xfrm>
          <a:prstGeom prst="roundRect">
            <a:avLst>
              <a:gd name="adj" fmla="val 12500"/>
            </a:avLst>
          </a:prstGeom>
          <a:solidFill>
            <a:srgbClr val="1E433A"/>
          </a:solidFill>
          <a:ln w="12700">
            <a:solidFill>
              <a:srgbClr val="3A5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4434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Cicloturismo Austro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clave: Instagram · Google Business · WhatsApp Business · Strava · Email/Tarjeta · TikTok.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LOCAL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Tácticas para crecer en Ecuador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BFAF5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57400"/>
            <a:ext cx="457200" cy="457200"/>
          </a:xfrm>
          <a:prstGeom prst="ellipse">
            <a:avLst/>
          </a:prstGeom>
          <a:solidFill>
            <a:srgbClr val="8FA31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Rutas insignia como producto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Empaquetar Ingapirca y Ruta del Tren como experiencias guiadas con cupos, foto y café.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BFAF5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3368" y="2057400"/>
            <a:ext cx="457200" cy="457200"/>
          </a:xfrm>
          <a:prstGeom prst="ellipse">
            <a:avLst/>
          </a:prstGeom>
          <a:solidFill>
            <a:srgbClr val="8FA31E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Co-marketing con marcas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95160" y="214884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Activaciones con Canyon, Colnago, Continental, Precision Fuel (demos, sorteos).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BFAF5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520440"/>
            <a:ext cx="457200" cy="457200"/>
          </a:xfrm>
          <a:prstGeom prst="ellipse">
            <a:avLst/>
          </a:prstGeom>
          <a:solidFill>
            <a:srgbClr val="8FA31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Alianzas locales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61188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Clubes, granfondos del Austro, hoteles y empresas para 'bike to work'.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10896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BFAF5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3520440"/>
            <a:ext cx="457200" cy="457200"/>
          </a:xfrm>
          <a:prstGeom prst="ellipse">
            <a:avLst/>
          </a:prstGeom>
          <a:solidFill>
            <a:srgbClr val="8FA31E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 de referidos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95160" y="361188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Premiar con la tarjeta digital a quien trae un amigo al taller o la rodada.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BFAF5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983480"/>
            <a:ext cx="457200" cy="457200"/>
          </a:xfrm>
          <a:prstGeom prst="ellipse">
            <a:avLst/>
          </a:prstGeom>
          <a:solidFill>
            <a:srgbClr val="8FA31E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4709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UGC #RuedaConCrank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507492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Repost constante de la comunidad como prueba social.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57200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BFAF5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3368" y="4983480"/>
            <a:ext cx="457200" cy="457200"/>
          </a:xfrm>
          <a:prstGeom prst="ellipse">
            <a:avLst/>
          </a:prstGeom>
          <a:solidFill>
            <a:srgbClr val="8FA31E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95160" y="4709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Prensa e influencers EC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95160" y="507492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Invitarlos a rodadas insignia para alcance fuera de Cuenca.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de 90 días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443484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3456432" cy="868680"/>
          </a:xfrm>
          <a:prstGeom prst="roundRect">
            <a:avLst>
              <a:gd name="adj" fmla="val 10526"/>
            </a:avLst>
          </a:prstGeom>
          <a:solidFill>
            <a:srgbClr val="1530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10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D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066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Fundamentos de marca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27432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Redefinir bio + tagline + link-in-bio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visual: paleta, 3 plantillas, 6 portadas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editorial + club de Strava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y WhatsApp Business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56432" cy="443484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691640"/>
            <a:ext cx="3456432" cy="868680"/>
          </a:xfrm>
          <a:prstGeom prst="roundRect">
            <a:avLst>
              <a:gd name="adj" fmla="val 10526"/>
            </a:avLst>
          </a:prstGeom>
          <a:solidFill>
            <a:srgbClr val="1E433A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10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D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066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de contenido &amp; comunidad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53712" y="27432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posts + 3 Reels por semana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'ABC del taller'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rodadas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#RuedaConCrank + 1er evento con sponsor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456432" cy="443484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691640"/>
            <a:ext cx="3456432" cy="868680"/>
          </a:xfrm>
          <a:prstGeom prst="roundRect">
            <a:avLst>
              <a:gd name="adj" fmla="val 10526"/>
            </a:avLst>
          </a:prstGeom>
          <a:solidFill>
            <a:srgbClr val="8FA31E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8105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D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3880" y="2066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Conversión &amp; escala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11312" y="27432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Destacados de catálogo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de tarjeta digital + referidos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con marca/club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reporte mensual y optimización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CON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(Cowork) como centro de operaciones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087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657600"/>
                <a:gridCol w="3136392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/ 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automatiza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Calendario de 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crank-weekly-content + Notion + Canva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ideas/semana con captions y arte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Vigilancia de competencia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crank-competitor-watch + Chrome + Slack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e ideas a replicar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DMs / WhatsApp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crank-lead-desk + HubSpot + Gmail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Clasifica, responde, crea contacto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Citas de taller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Calendar + Asana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Agenda, tarea, recordatorio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Rodadas / eventos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crank-rodada-ops + Calendar + Slack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Evento, convocatoria, inscritos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evento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Prospección de alianzas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 + HubSpot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para co-marketing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 de resultados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crank-monthly-report + xlsx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Digest IG + ventas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acción con efecto externo (publicar, enviar, agendar) pasa por tu aprobación antes de ejecutarse.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empezar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rgbClr val="8FA3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20391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D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Conectar lo esencial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238658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HubSpot, Google Calendar, Gmail, Notion, Canva y Slack.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640080" cy="640080"/>
          </a:xfrm>
          <a:prstGeom prst="ellipse">
            <a:avLst/>
          </a:prstGeom>
          <a:solidFill>
            <a:srgbClr val="8FA3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9992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D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 las primeras 3 skills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33467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crank-weekly-content · crank-lead-desk · crank-monthly-report.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640080" cy="640080"/>
          </a:xfrm>
          <a:prstGeom prst="ellipse">
            <a:avLst/>
          </a:prstGeom>
          <a:solidFill>
            <a:srgbClr val="8FA31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9593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D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Programar tareas automáticas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430682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7am: ideas de la semana. Fin de mes: reporte.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640080" cy="640080"/>
          </a:xfrm>
          <a:prstGeom prst="ellipse">
            <a:avLst/>
          </a:prstGeom>
          <a:solidFill>
            <a:srgbClr val="8FA3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9194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D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Definir la voz de marca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526694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captions y respuestas con el tono de Crank.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Crank · Donde rueda Cuenca · Junio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2026-06-10T15:34:15Z</dcterms:created>
  <dcterms:modified xsi:type="dcterms:W3CDTF">2026-06-10T15:34:15Z</dcterms:modified>
</cp:coreProperties>
</file>