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 · ESTRATEGIA CRANK · JUNIO 2026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141732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BF8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CRANK </a:t>
            </a:r>
            <a:pPr indent="0" marL="0">
              <a:buNone/>
            </a:pPr>
            <a:r>
              <a:rPr lang="en-US" sz="5200" b="1" i="1" dirty="0">
                <a:solidFill>
                  <a:srgbClr val="C8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pPr indent="0" marL="0">
              <a:buNone/>
            </a:pPr>
            <a:r>
              <a:rPr lang="en-US" sz="5200" b="1" dirty="0">
                <a:solidFill>
                  <a:srgbClr val="FBF8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LAP.ccc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D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competitivo y plan para defender Cuenca,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8D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recuperar clientes y expandirnos donde ellos no están.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4069080"/>
            <a:ext cx="502920" cy="9144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297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Cuenca, Ecuador · Preparado para el equipo Crank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8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94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RESUMEN EJECUTIVO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situación en una página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LAP.ccc copia nuestro estilo e iniciativas, representa más marcas y tiene más capital para giveaways y producto. Nos ha quitado clientes este año. Pero su modelo tiene un punto ciego: es una tienda de productos, no un ecosistema. Sin taller, sin café, sin fidelidad, cerrados los domingos y dependientes de dos marcas de bici.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606040"/>
            <a:ext cx="1938528" cy="2103120"/>
          </a:xfrm>
          <a:prstGeom prst="rect">
            <a:avLst/>
          </a:prstGeom>
          <a:solidFill>
            <a:srgbClr val="20302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743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364992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talleres mecánicos tiene LAP. Cada Specialized que venden necesita servicio — el nuestro.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87752" y="2606040"/>
            <a:ext cx="1938528" cy="2103120"/>
          </a:xfrm>
          <a:prstGeom prst="rect">
            <a:avLst/>
          </a:prstGeom>
          <a:solidFill>
            <a:srgbClr val="20302A"/>
          </a:solidFill>
          <a:ln/>
        </p:spPr>
      </p:sp>
      <p:sp>
        <p:nvSpPr>
          <p:cNvPr id="9" name="Text 7"/>
          <p:cNvSpPr/>
          <p:nvPr/>
        </p:nvSpPr>
        <p:spPr>
          <a:xfrm>
            <a:off x="2724912" y="2743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 vs 5.5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724912" y="3364992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abiertos por semana. LAP cierra los domingos — el día que Cuenca rueda.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72584" y="2606040"/>
            <a:ext cx="1938528" cy="2103120"/>
          </a:xfrm>
          <a:prstGeom prst="rect">
            <a:avLst/>
          </a:prstGeom>
          <a:solidFill>
            <a:srgbClr val="20302A"/>
          </a:solidFill>
          <a:ln/>
        </p:spPr>
      </p:sp>
      <p:sp>
        <p:nvSpPr>
          <p:cNvPr id="12" name="Text 10"/>
          <p:cNvSpPr/>
          <p:nvPr/>
        </p:nvSpPr>
        <p:spPr>
          <a:xfrm>
            <a:off x="4809744" y="2743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vs 15+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809744" y="3364992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marcas de bici de LAP (Specialized, ENVE) frente a las que Crank vende y atiende.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57416" y="2606040"/>
            <a:ext cx="1938528" cy="2103120"/>
          </a:xfrm>
          <a:prstGeom prst="rect">
            <a:avLst/>
          </a:prstGeom>
          <a:solidFill>
            <a:srgbClr val="20302A"/>
          </a:solidFill>
          <a:ln/>
        </p:spPr>
      </p:sp>
      <p:sp>
        <p:nvSpPr>
          <p:cNvPr id="15" name="Text 13"/>
          <p:cNvSpPr/>
          <p:nvPr/>
        </p:nvSpPr>
        <p:spPr>
          <a:xfrm>
            <a:off x="6894576" y="2743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894576" y="3364992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foco de LAP está en running. Su atención está dividida; la nuestra no.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8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94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QUIÉN ES LAP.CCC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Perfil del competidor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77640" cy="3291840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64008" cy="3291840"/>
          </a:xfrm>
          <a:prstGeom prst="rect">
            <a:avLst/>
          </a:prstGeom>
          <a:solidFill>
            <a:srgbClr val="E1C3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94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POSICIONAMIENTO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“Your one-stop concept store”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3520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store premium de ciclismo y running, bilingüe, con e-commerce completo (WooCommerce, pagos con tarjeta).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Discurso casi calcado al nuestro: comunidad, curaduría, experiencias, sostenibilidad, biomecánica, eventos.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Horario: L–V 11:00–19:30, Sáb 11–16. Domingos cerrado.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Instagram: @lap.ccc · lapccc.com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3977640" cy="3291840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417320"/>
            <a:ext cx="64008" cy="3291840"/>
          </a:xfrm>
          <a:prstGeom prst="rect">
            <a:avLst/>
          </a:prstGeom>
          <a:solidFill>
            <a:srgbClr val="E1C3FF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94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PORTAFOLIO DE MARCAS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9204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Más marcas, más capital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2286000"/>
            <a:ext cx="3520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Bicicletas: Specialized, ENVE — premium, ticket alto.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Ropa ciclismo: Gobik, PAS Normal Studios, Oliver Otto.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Running: Asics, Hermanos Koumori, PNS.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Nutrición: Hammer, NeverSecond, Skratch, ProBar.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Accesorios: Silca, cascos, zapatos, gafas, aros.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8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94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QUIÉN ES LAP.CCC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respetar, qué explotar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77640" cy="3337560"/>
          </a:xfrm>
          <a:prstGeom prst="rect">
            <a:avLst/>
          </a:prstGeom>
          <a:solidFill>
            <a:srgbClr val="20302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1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 FORTALEZAS REALES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Capital: financian giveaways, importaciones y líneas nuevas más rápido que nosotros.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funcional con precios y checkout; nosotros aún vendemos por WhatsApp.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+ ENVE: marcas imán para el ticket más alto.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les da tráfico y clientela adicional.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Ropa de moda (PNS, Gobik): el uniforme del ciclista aspiracional.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3977640" cy="3337560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417320"/>
            <a:ext cx="64008" cy="333756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94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GRIETAS EN SU MODELO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92040" y="196596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taller: cero ingreso recurrente; sus clientes deben ir a otro lado (a nosotros).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café ni “tercer lugar”: nadie los visita sin intención de compra.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programa de fidelidad ni datos de frecuencia.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Sitio descuidado: lorem ipsum, plantilla genérica, productos en $0.00.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 de 2 marcas de bici y cierran el domingo de rodada.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8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94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FRENTE A FRENTE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Comparativa directa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383280"/>
                <a:gridCol w="3200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BF8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DIMENSIÓN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BF8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CRANK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C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BF8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LAP.CCC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Ecosistema: bicis + café + taller + comunidad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Retail puro de productos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Taller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Certificado, +10 años, multimarca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tiene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Marcas de bici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15+ y soporte para cualquier bici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(Specialized, ENVE)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Ruta, MTB, gravel, urbano, bikepacking, niños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Ruta/performance + running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Fidelidad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Crank Pass (wallet digital)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tiene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Comunidad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Rodadas semanales, Girls Ride Out, clínicas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Discurso; replican iniciativas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Horario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días a la semana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 días; domingo cerrado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E-commerce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Catálogo + WhatsApp, sin carrito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WooCommerce completo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2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Mayor músculo financiero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2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77316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 = ventaja Crank · Lavanda = ventaja LAP · Fuentes: lapccc.com y crank.ec, junio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8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94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SWOT CRANK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Dónde estamos parados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68496" cy="1627632"/>
          </a:xfrm>
          <a:prstGeom prst="rect">
            <a:avLst/>
          </a:prstGeom>
          <a:solidFill>
            <a:srgbClr val="20302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6304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FORTALEZAS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Único ecosistema bici + café + taller de Cuenca.</a:t>
            </a:r>
            <a:endParaRPr lang="en-US" sz="93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multimarca con +10 años de confianza.</a:t>
            </a:r>
            <a:endParaRPr lang="en-US" sz="93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 real: rodadas, Girls Ride Out.</a:t>
            </a:r>
            <a:endParaRPr lang="en-US" sz="93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Crank Pass: retención + datos. Abiertos 7 días.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4672584" y="1371600"/>
            <a:ext cx="3968496" cy="1627632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55464" y="146304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94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DEBILIDADES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55464" y="17373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capital: no igualamos su ritmo de giveaways.</a:t>
            </a:r>
            <a:endParaRPr lang="en-US" sz="93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e-commerce transaccional.</a:t>
            </a:r>
            <a:endParaRPr lang="en-US" sz="93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Apparel de moda débil (donde LAP es fuerte).</a:t>
            </a:r>
            <a:endParaRPr lang="en-US" sz="93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de valor sin filo (score marca 61/100).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502920" y="3136392"/>
            <a:ext cx="3968496" cy="1627632"/>
          </a:xfrm>
          <a:prstGeom prst="rect">
            <a:avLst/>
          </a:prstGeom>
          <a:solidFill>
            <a:srgbClr val="20302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22783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" y="3502152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cliente de LAP necesita taller: el nuestro.</a:t>
            </a:r>
            <a:endParaRPr lang="en-US" sz="93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Loja, Azogues, Machala sin tienda premium.</a:t>
            </a:r>
            <a:endParaRPr lang="en-US" sz="93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Turismo gravel/bikepacking (Cajas, Ingapirca).</a:t>
            </a:r>
            <a:endParaRPr lang="en-US" sz="93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Segmentos que LAP ignora: niños, urbano, mujeres.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4672584" y="3136392"/>
            <a:ext cx="3968496" cy="1627632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5464" y="322783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94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AMENAZAS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55464" y="3502152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 sigue copiando y comprime nuestra diferencia.</a:t>
            </a:r>
            <a:endParaRPr lang="en-US" sz="93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capital aguanta guerras de precio.</a:t>
            </a:r>
            <a:endParaRPr lang="en-US" sz="93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captura al comprador de primera bici premium.</a:t>
            </a:r>
            <a:endParaRPr lang="en-US" sz="93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3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montan taller o fidelidad, la ventana se cierra.</a:t>
            </a:r>
            <a:endParaRPr lang="en-US" sz="9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ESTRATEGIA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F8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Tres frentes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de oro: nunca competir donde su dinero decide (stock, giveaways, precio). Competir donde deciden el tiempo, la confianza y la comunidad.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2606040" cy="2606040"/>
          </a:xfrm>
          <a:prstGeom prst="rect">
            <a:avLst/>
          </a:prstGeom>
          <a:solidFill>
            <a:srgbClr val="20302A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2103120"/>
            <a:ext cx="2606040" cy="8229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331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DEFENDER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263347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F8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taller es el foso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9C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 recurrente, visita 2–4× al año y la relación de mayor confianza del ciclismo. LAP no tiene taller: cada bici que venden madura hacia nosotros.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3291840" y="2103120"/>
            <a:ext cx="2606040" cy="2606040"/>
          </a:xfrm>
          <a:prstGeom prst="rect">
            <a:avLst/>
          </a:prstGeom>
          <a:solidFill>
            <a:srgbClr val="20302A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2103120"/>
            <a:ext cx="2606040" cy="8229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2331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DIFERENCIAR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74720" y="263347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F8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tienda a club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74720" y="315468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9C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 copia campañas; no puede copiar pertenencia. Crank Pass con niveles, calendario de comunidad fijo, bike fit insignia y contenido de autoridad.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080760" y="2103120"/>
            <a:ext cx="2606040" cy="2606040"/>
          </a:xfrm>
          <a:prstGeom prst="rect">
            <a:avLst/>
          </a:prstGeom>
          <a:solidFill>
            <a:srgbClr val="20302A"/>
          </a:solidFill>
          <a:ln/>
        </p:spPr>
      </p:sp>
      <p:sp>
        <p:nvSpPr>
          <p:cNvPr id="16" name="Shape 14"/>
          <p:cNvSpPr/>
          <p:nvPr/>
        </p:nvSpPr>
        <p:spPr>
          <a:xfrm>
            <a:off x="6080760" y="2103120"/>
            <a:ext cx="2606040" cy="8229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2331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EXPANDIR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63640" y="263347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F8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Donde LAP no está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63640" y="315468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9C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pelear running. Crecer en geografía (Loja, Azogues, Machala), e-commerce nacional, turismo de aventura, familias y empresas.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8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94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FRENTE 1 · DEFENDER CUENCA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taller es el foso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68496" cy="1554480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64008" cy="155448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54533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“Bienvenida Specialized”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4088" y="192024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revisión gratuita para cualquier bici comprada en otra tienda. Convertimos sus ventas en nuestros clientes de servicio.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72584" y="1417320"/>
            <a:ext cx="3968496" cy="1554480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72584" y="1417320"/>
            <a:ext cx="64008" cy="155448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0" name="Text 8"/>
          <p:cNvSpPr/>
          <p:nvPr/>
        </p:nvSpPr>
        <p:spPr>
          <a:xfrm>
            <a:off x="4873752" y="154533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Planes de mantenimiento anual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73752" y="192024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servicios prepagados con descuento: ingreso predecible y cliente amarrado 12 meses.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136392"/>
            <a:ext cx="3968496" cy="1554480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136392"/>
            <a:ext cx="64008" cy="155448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326440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Garantía de taller visible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4088" y="3639312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en fecha o el servicio es gratis. Nadie más en Cuenca puede prometerlo.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72584" y="3136392"/>
            <a:ext cx="3968496" cy="1554480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72584" y="3136392"/>
            <a:ext cx="64008" cy="155448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8" name="Text 16"/>
          <p:cNvSpPr/>
          <p:nvPr/>
        </p:nvSpPr>
        <p:spPr>
          <a:xfrm>
            <a:off x="4873752" y="326440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Domingos Crank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73752" y="3639312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express + café post-rodada. Somos los únicos abiertos el día que Cuenca rueda.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8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94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FRENTE 2 · DIFERENCIAR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tienda a club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68496" cy="1554480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64008" cy="1554480"/>
          </a:xfrm>
          <a:prstGeom prst="rect">
            <a:avLst/>
          </a:prstGeom>
          <a:solidFill>
            <a:srgbClr val="E1C3FF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54533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Crank Pass 2.0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4088" y="192024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5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Niveles Rider → Gregario → Capitán con beneficios reales: prioridad de taller, café del socio, descuento de aniversario. El giveaway de LAP compra un like; el Pass compra lealtad.</a:t>
            </a:r>
            <a:endParaRPr lang="en-US" sz="1060" dirty="0"/>
          </a:p>
        </p:txBody>
      </p:sp>
      <p:sp>
        <p:nvSpPr>
          <p:cNvPr id="8" name="Shape 6"/>
          <p:cNvSpPr/>
          <p:nvPr/>
        </p:nvSpPr>
        <p:spPr>
          <a:xfrm>
            <a:off x="4672584" y="1417320"/>
            <a:ext cx="3968496" cy="1554480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72584" y="1417320"/>
            <a:ext cx="64008" cy="1554480"/>
          </a:xfrm>
          <a:prstGeom prst="rect">
            <a:avLst/>
          </a:prstGeom>
          <a:solidFill>
            <a:srgbClr val="E1C3FF"/>
          </a:solidFill>
          <a:ln/>
        </p:spPr>
      </p:sp>
      <p:sp>
        <p:nvSpPr>
          <p:cNvPr id="10" name="Text 8"/>
          <p:cNvSpPr/>
          <p:nvPr/>
        </p:nvSpPr>
        <p:spPr>
          <a:xfrm>
            <a:off x="4873752" y="154533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Calendario innegociable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73752" y="192024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5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Rodada dominical fija + Girls Ride Out mensual + clínica de mecánica al mes. Ritmo constante gana a campañas espectaculares.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502920" y="3136392"/>
            <a:ext cx="3968496" cy="1554480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136392"/>
            <a:ext cx="64008" cy="1554480"/>
          </a:xfrm>
          <a:prstGeom prst="rect">
            <a:avLst/>
          </a:prstGeom>
          <a:solidFill>
            <a:srgbClr val="E1C3FF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326440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Bike fit insignia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4088" y="3639312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5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margen, alto valor percibido — y LAP no lo puede ofrecer sin taller detrás.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4672584" y="3136392"/>
            <a:ext cx="3968496" cy="1554480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72584" y="3136392"/>
            <a:ext cx="64008" cy="1554480"/>
          </a:xfrm>
          <a:prstGeom prst="rect">
            <a:avLst/>
          </a:prstGeom>
          <a:solidFill>
            <a:srgbClr val="E1C3FF"/>
          </a:solidFill>
          <a:ln/>
        </p:spPr>
      </p:sp>
      <p:sp>
        <p:nvSpPr>
          <p:cNvPr id="18" name="Text 16"/>
          <p:cNvSpPr/>
          <p:nvPr/>
        </p:nvSpPr>
        <p:spPr>
          <a:xfrm>
            <a:off x="4873752" y="326440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Contenido de autoridad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73752" y="3639312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5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mecánico como personaje (serie “Del taller”). Producto lo tiene cualquiera con plata; criterio, no. Tagline al frente: “Donde rueda Cuenca”.</a:t>
            </a:r>
            <a:endParaRPr lang="en-US" sz="10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E8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94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FRENTE 3 · EXPANDIR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Crecer donde LAP no está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68496" cy="1554480"/>
          </a:xfrm>
          <a:prstGeom prst="rect">
            <a:avLst/>
          </a:prstGeom>
          <a:solidFill>
            <a:srgbClr val="20302A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64008" cy="155448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54533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F8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Geografía sin defensor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4088" y="192024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C9C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Loja, Azogues y Machala no tienen tienda premium ni taller certificado. Empezar con “Crank Days” mensuales (taller móvil + venta + rodada) antes de invertir en local.</a:t>
            </a:r>
            <a:endParaRPr lang="en-US" sz="1060" dirty="0"/>
          </a:p>
        </p:txBody>
      </p:sp>
      <p:sp>
        <p:nvSpPr>
          <p:cNvPr id="8" name="Shape 6"/>
          <p:cNvSpPr/>
          <p:nvPr/>
        </p:nvSpPr>
        <p:spPr>
          <a:xfrm>
            <a:off x="4672584" y="1417320"/>
            <a:ext cx="3968496" cy="1554480"/>
          </a:xfrm>
          <a:prstGeom prst="rect">
            <a:avLst/>
          </a:prstGeom>
          <a:solidFill>
            <a:srgbClr val="20302A"/>
          </a:solidFill>
          <a:ln/>
        </p:spPr>
      </p:sp>
      <p:sp>
        <p:nvSpPr>
          <p:cNvPr id="9" name="Shape 7"/>
          <p:cNvSpPr/>
          <p:nvPr/>
        </p:nvSpPr>
        <p:spPr>
          <a:xfrm>
            <a:off x="4672584" y="1417320"/>
            <a:ext cx="64008" cy="155448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0" name="Text 8"/>
          <p:cNvSpPr/>
          <p:nvPr/>
        </p:nvSpPr>
        <p:spPr>
          <a:xfrm>
            <a:off x="4873752" y="154533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F8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E-commerce nacional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73752" y="192024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C9C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transaccional sobre los envíos que ya hacemos. Accesorios y nutrición primero: ticket bajo, recompra alta.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502920" y="3136392"/>
            <a:ext cx="3968496" cy="1554480"/>
          </a:xfrm>
          <a:prstGeom prst="rect">
            <a:avLst/>
          </a:prstGeom>
          <a:solidFill>
            <a:srgbClr val="20302A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3136392"/>
            <a:ext cx="64008" cy="155448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326440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F8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Turismo de aventura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4088" y="3639312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C9C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Paquetes gravel/bikepacking (Cajas, Ingapirca, Ruta del Tren) con alquiler, soporte mecánico y café. Alianzas con hoteles: ticket alto, cero competencia.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4672584" y="3136392"/>
            <a:ext cx="3968496" cy="1554480"/>
          </a:xfrm>
          <a:prstGeom prst="rect">
            <a:avLst/>
          </a:prstGeom>
          <a:solidFill>
            <a:srgbClr val="20302A"/>
          </a:solidFill>
          <a:ln/>
        </p:spPr>
      </p:sp>
      <p:sp>
        <p:nvSpPr>
          <p:cNvPr id="17" name="Shape 15"/>
          <p:cNvSpPr/>
          <p:nvPr/>
        </p:nvSpPr>
        <p:spPr>
          <a:xfrm>
            <a:off x="4672584" y="3136392"/>
            <a:ext cx="64008" cy="155448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8" name="Text 16"/>
          <p:cNvSpPr/>
          <p:nvPr/>
        </p:nvSpPr>
        <p:spPr>
          <a:xfrm>
            <a:off x="4873752" y="326440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F8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Familias y empresas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73752" y="3639312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C9C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bici + clínica de seguridad + trade-in de crecimiento. Convenios de mantenimiento de flotas corporativas y delivery.</a:t>
            </a:r>
            <a:endParaRPr lang="en-US" sz="10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E8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94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RECUPERACIÓN DE CLIENTES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Playbook de win-back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06040" cy="3154680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276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C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2128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Lista y diagnóstico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inactivos +6 meses (taller, WhatsApp, Crank Pass), etiquetados por valor. Llamar a los 20 más valiosos — preguntar, no vender: ¿qué encontraron en otro lado?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606040" cy="3154680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6276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C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74720" y="22128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Oferta de regreso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74720" y="2606040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personal (no masivo): revisión gratuita + café de la casa + doble sello del Pass. El gancho es el taller — el descuento LAP lo iguala; 10 años de mecánico, no.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080760" y="1463040"/>
            <a:ext cx="2606040" cy="3154680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6276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C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63640" y="22128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Amarre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63640" y="2606040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445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esa visita: plan de mantenimiento anual o inscripción a la siguiente rodada. El objetivo es devolverlos al ritmo del club. Medir: % recuperados activos a 90 días.</a:t>
            </a:r>
            <a:endParaRPr lang="en-US" sz="10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E8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94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ROADMAP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 días de ejecución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06040" cy="3154680"/>
          </a:xfrm>
          <a:prstGeom prst="rect">
            <a:avLst/>
          </a:prstGeom>
          <a:solidFill>
            <a:srgbClr val="20302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276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1–30 · LA BASE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Lanzar “Bienvenida Specialized”.</a:t>
            </a:r>
            <a:endParaRPr lang="en-US" sz="108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Win-back con los 50 clientes de mayor valor.</a:t>
            </a:r>
            <a:endParaRPr lang="en-US" sz="108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Calendario de comunidad fijo y publicado.</a:t>
            </a:r>
            <a:endParaRPr lang="en-US" sz="108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Tagline en bio, fachada y plantillas.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606040" cy="3154680"/>
          </a:xfrm>
          <a:prstGeom prst="rect">
            <a:avLst/>
          </a:prstGeom>
          <a:solidFill>
            <a:srgbClr val="20302A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6276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31–60 · MONETIZAR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0" y="219456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Planes de mantenimiento anual.</a:t>
            </a:r>
            <a:endParaRPr lang="en-US" sz="108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Crank Pass 2.0 con niveles.</a:t>
            </a:r>
            <a:endParaRPr lang="en-US" sz="108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Bike fit con agenda online.</a:t>
            </a:r>
            <a:endParaRPr lang="en-US" sz="108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v1: accesorios + nutrición.</a:t>
            </a:r>
            <a:endParaRPr lang="en-US" sz="108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semanal “Del taller”.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080760" y="1463040"/>
            <a:ext cx="2606040" cy="3154680"/>
          </a:xfrm>
          <a:prstGeom prst="rect">
            <a:avLst/>
          </a:prstGeom>
          <a:solidFill>
            <a:srgbClr val="20302A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6276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61–90 · EXPANDIR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63640" y="219456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“Crank Day” en Loja o Azogues.</a:t>
            </a:r>
            <a:endParaRPr lang="en-US" sz="108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paquete de turismo gravel con hotel aliado.</a:t>
            </a:r>
            <a:endParaRPr lang="en-US" sz="108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familias / primera bici.</a:t>
            </a:r>
            <a:endParaRPr lang="en-US" sz="108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de KPIs: duplicar lo que funcionó.</a:t>
            </a:r>
            <a:endParaRPr lang="en-US" sz="10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E8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94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ROADMAP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KPIs a 90 días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81381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645920"/>
                <a:gridCol w="2468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BF8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BF8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BF8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 90 DÍAS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C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Clientes perdidos recuperados (activos)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de 50 contactados (30%)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Bicis “de otras tiendas” en taller / mes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línea base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 al mes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Planes de mantenimiento anual vendidos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Miembros activos Crank 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línea base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2× línea base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Asistencia promedio a rodadas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línea base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Ventas fuera de Cuenca (accesorios)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 de ventas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Seguidores IG @crank.ec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3,700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5,000 con ratio sano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CIERRE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BF8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LAP vende productos. Crank vende la vida ciclista completa: la bici, el café, el taller, la rodada del domingo y la comunidad. </a:t>
            </a:r>
            <a:pPr indent="0" marL="0">
              <a:buNone/>
            </a:pPr>
            <a:r>
              <a:rPr lang="en-US" sz="2300" b="1" dirty="0">
                <a:solidFill>
                  <a:srgbClr val="C8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Ellos pueden copiar campañas; no pueden copiar diez años de confianza ni un club.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Defendemos con el taller. Diferenciamos con el club. Crecemos donde ellos ni siquiera miran.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4343400"/>
            <a:ext cx="502920" cy="9144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526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CRANK · Cuenca, Ecuador · Junio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Crank vs LAP.ccc — Análisis Competitivo</dc:title>
  <dc:subject>PptxGenJS Presentation</dc:subject>
  <dc:creator>Crank</dc:creator>
  <cp:lastModifiedBy>Crank</cp:lastModifiedBy>
  <cp:revision>1</cp:revision>
  <dcterms:created xsi:type="dcterms:W3CDTF">2026-06-12T15:19:52Z</dcterms:created>
  <dcterms:modified xsi:type="dcterms:W3CDTF">2026-06-12T15:19:52Z</dcterms:modified>
</cp:coreProperties>
</file>