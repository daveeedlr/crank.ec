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D28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94C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mar25</c:v>
                  </c:pt>
                  <c:pt idx="1">
                    <c:v>abr25</c:v>
                  </c:pt>
                  <c:pt idx="2">
                    <c:v>may25</c:v>
                  </c:pt>
                  <c:pt idx="3">
                    <c:v>jun25</c:v>
                  </c:pt>
                  <c:pt idx="4">
                    <c:v>jul25</c:v>
                  </c:pt>
                  <c:pt idx="5">
                    <c:v>ago25</c:v>
                  </c:pt>
                  <c:pt idx="6">
                    <c:v>sep25</c:v>
                  </c:pt>
                  <c:pt idx="7">
                    <c:v>oct25</c:v>
                  </c:pt>
                  <c:pt idx="8">
                    <c:v>nov25</c:v>
                  </c:pt>
                  <c:pt idx="9">
                    <c:v>dic25</c:v>
                  </c:pt>
                  <c:pt idx="10">
                    <c:v>ene26</c:v>
                  </c:pt>
                  <c:pt idx="11">
                    <c:v>feb26</c:v>
                  </c:pt>
                  <c:pt idx="12">
                    <c:v>mar26</c:v>
                  </c:pt>
                  <c:pt idx="13">
                    <c:v>abr26</c:v>
                  </c:pt>
                  <c:pt idx="14">
                    <c:v>may26</c:v>
                  </c:pt>
                  <c:pt idx="15">
                    <c:v>jun26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8116</c:v>
                </c:pt>
                <c:pt idx="1">
                  <c:v>6934</c:v>
                </c:pt>
                <c:pt idx="2">
                  <c:v>6626</c:v>
                </c:pt>
                <c:pt idx="3">
                  <c:v>7237</c:v>
                </c:pt>
                <c:pt idx="4">
                  <c:v>9154</c:v>
                </c:pt>
                <c:pt idx="5">
                  <c:v>5732</c:v>
                </c:pt>
                <c:pt idx="6">
                  <c:v>3350</c:v>
                </c:pt>
                <c:pt idx="7">
                  <c:v>8606</c:v>
                </c:pt>
                <c:pt idx="8">
                  <c:v>7097</c:v>
                </c:pt>
                <c:pt idx="9">
                  <c:v>6807</c:v>
                </c:pt>
                <c:pt idx="10">
                  <c:v>6254</c:v>
                </c:pt>
                <c:pt idx="11">
                  <c:v>4340</c:v>
                </c:pt>
                <c:pt idx="12">
                  <c:v>6675</c:v>
                </c:pt>
                <c:pt idx="13">
                  <c:v>4367</c:v>
                </c:pt>
                <c:pt idx="14">
                  <c:v>3738</c:v>
                </c:pt>
                <c:pt idx="15">
                  <c:v>2278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94C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3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8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3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acumulado</c:v>
                </c:pt>
              </c:strCache>
            </c:strRef>
          </c:tx>
          <c:spPr>
            <a:solidFill>
              <a:srgbClr val="194C3F"/>
            </a:solidFill>
            <a:ln w="31750" cap="flat">
              <a:solidFill>
                <a:srgbClr val="194C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94C3F"/>
              </a:solidFill>
              <a:ln w="9525" cap="flat">
                <a:solidFill>
                  <a:srgbClr val="194C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Sheet1!$A$2:$A$59</c:f>
              <c:multiLvlStrCache>
                <c:ptCount val="58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</c:lvl>
              </c:multiLvlStrCache>
            </c:multiLvlStrRef>
          </c:cat>
          <c:val>
            <c:numRef>
              <c:f>Sheet1!$B$2:$B$59</c:f>
              <c:numCache>
                <c:formatCode>General</c:formatCode>
                <c:ptCount val="58"/>
                <c:pt idx="0">
                  <c:v>3.8</c:v>
                </c:pt>
                <c:pt idx="1">
                  <c:v>17.5</c:v>
                </c:pt>
                <c:pt idx="2">
                  <c:v>27.8</c:v>
                </c:pt>
                <c:pt idx="3">
                  <c:v>34.9</c:v>
                </c:pt>
                <c:pt idx="4">
                  <c:v>41.1</c:v>
                </c:pt>
                <c:pt idx="5">
                  <c:v>46.5</c:v>
                </c:pt>
                <c:pt idx="6">
                  <c:v>51.2</c:v>
                </c:pt>
                <c:pt idx="7">
                  <c:v>55.5</c:v>
                </c:pt>
                <c:pt idx="8">
                  <c:v>59.1</c:v>
                </c:pt>
                <c:pt idx="9">
                  <c:v>62.3</c:v>
                </c:pt>
                <c:pt idx="10">
                  <c:v>65.2</c:v>
                </c:pt>
                <c:pt idx="11">
                  <c:v>67.9</c:v>
                </c:pt>
                <c:pt idx="12">
                  <c:v>70.4</c:v>
                </c:pt>
                <c:pt idx="13">
                  <c:v>72.6</c:v>
                </c:pt>
                <c:pt idx="14">
                  <c:v>74.8</c:v>
                </c:pt>
                <c:pt idx="15">
                  <c:v>76.6</c:v>
                </c:pt>
                <c:pt idx="16">
                  <c:v>78.3</c:v>
                </c:pt>
                <c:pt idx="17">
                  <c:v>79.8</c:v>
                </c:pt>
                <c:pt idx="18">
                  <c:v>81.2</c:v>
                </c:pt>
                <c:pt idx="19">
                  <c:v>82.5</c:v>
                </c:pt>
                <c:pt idx="20">
                  <c:v>83.7</c:v>
                </c:pt>
                <c:pt idx="21">
                  <c:v>84.9</c:v>
                </c:pt>
                <c:pt idx="22">
                  <c:v>85.9</c:v>
                </c:pt>
                <c:pt idx="23">
                  <c:v>86.9</c:v>
                </c:pt>
                <c:pt idx="24">
                  <c:v>87.9</c:v>
                </c:pt>
                <c:pt idx="25">
                  <c:v>88.8</c:v>
                </c:pt>
                <c:pt idx="26">
                  <c:v>89.6</c:v>
                </c:pt>
                <c:pt idx="27">
                  <c:v>90.5</c:v>
                </c:pt>
                <c:pt idx="28">
                  <c:v>91.2</c:v>
                </c:pt>
                <c:pt idx="29">
                  <c:v>92</c:v>
                </c:pt>
                <c:pt idx="30">
                  <c:v>92.7</c:v>
                </c:pt>
                <c:pt idx="31">
                  <c:v>93.3</c:v>
                </c:pt>
                <c:pt idx="32">
                  <c:v>93.9</c:v>
                </c:pt>
                <c:pt idx="33">
                  <c:v>94.5</c:v>
                </c:pt>
                <c:pt idx="34">
                  <c:v>95</c:v>
                </c:pt>
                <c:pt idx="35">
                  <c:v>95.5</c:v>
                </c:pt>
                <c:pt idx="36">
                  <c:v>95.9</c:v>
                </c:pt>
                <c:pt idx="37">
                  <c:v>96.3</c:v>
                </c:pt>
                <c:pt idx="38">
                  <c:v>96.7</c:v>
                </c:pt>
                <c:pt idx="39">
                  <c:v>97</c:v>
                </c:pt>
                <c:pt idx="40">
                  <c:v>97.4</c:v>
                </c:pt>
                <c:pt idx="41">
                  <c:v>97.6</c:v>
                </c:pt>
                <c:pt idx="42">
                  <c:v>97.9</c:v>
                </c:pt>
                <c:pt idx="43">
                  <c:v>98.1</c:v>
                </c:pt>
                <c:pt idx="44">
                  <c:v>98.4</c:v>
                </c:pt>
                <c:pt idx="45">
                  <c:v>98.6</c:v>
                </c:pt>
                <c:pt idx="46">
                  <c:v>98.8</c:v>
                </c:pt>
                <c:pt idx="47">
                  <c:v>98.9</c:v>
                </c:pt>
                <c:pt idx="48">
                  <c:v>99.1</c:v>
                </c:pt>
                <c:pt idx="49">
                  <c:v>99.3</c:v>
                </c:pt>
                <c:pt idx="50">
                  <c:v>99.4</c:v>
                </c:pt>
                <c:pt idx="51">
                  <c:v>99.6</c:v>
                </c:pt>
                <c:pt idx="52">
                  <c:v>99.7</c:v>
                </c:pt>
                <c:pt idx="53">
                  <c:v>99.8</c:v>
                </c:pt>
                <c:pt idx="54">
                  <c:v>99.9</c:v>
                </c:pt>
                <c:pt idx="55">
                  <c:v>99.9</c:v>
                </c:pt>
                <c:pt idx="56">
                  <c:v>100</c:v>
                </c:pt>
                <c:pt idx="57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3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DE8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3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2821"/>
              </a:solidFill>
              <a:effectLst/>
            </c:spPr>
          </c:dPt>
          <c:dPt>
            <c:idx val="1"/>
            <c:bubble3D val="0"/>
            <c:spPr>
              <a:solidFill>
                <a:srgbClr val="194C3F"/>
              </a:solidFill>
              <a:effectLst/>
            </c:spPr>
          </c:dPt>
          <c:dPt>
            <c:idx val="2"/>
            <c:bubble3D val="0"/>
            <c:spPr>
              <a:solidFill>
                <a:srgbClr val="C8FF00"/>
              </a:solidFill>
              <a:effectLst/>
            </c:spPr>
          </c:dPt>
          <c:dPt>
            <c:idx val="3"/>
            <c:bubble3D val="0"/>
            <c:spPr>
              <a:solidFill>
                <a:srgbClr val="E1C3FF"/>
              </a:solidFill>
              <a:effectLst/>
            </c:spPr>
          </c:dPt>
          <c:dPt>
            <c:idx val="4"/>
            <c:bubble3D val="0"/>
            <c:spPr>
              <a:solidFill>
                <a:srgbClr val="A0A0A0"/>
              </a:solidFill>
              <a:effectLst/>
            </c:spPr>
          </c:dPt>
          <c:dPt>
            <c:idx val="5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Ropa &amp; Equipamiento</c:v>
                </c:pt>
                <c:pt idx="1">
                  <c:v>Repuestos &amp; Mantenimiento</c:v>
                </c:pt>
                <c:pt idx="2">
                  <c:v>Taller &amp; Servicios</c:v>
                </c:pt>
                <c:pt idx="3">
                  <c:v>Suplementos &amp; Nutrición</c:v>
                </c:pt>
                <c:pt idx="4">
                  <c:v>Accesorios</c:v>
                </c:pt>
                <c:pt idx="5">
                  <c:v>Otros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28885</c:v>
                </c:pt>
                <c:pt idx="1">
                  <c:v>27019</c:v>
                </c:pt>
                <c:pt idx="2">
                  <c:v>15652</c:v>
                </c:pt>
                <c:pt idx="3">
                  <c:v>14834</c:v>
                </c:pt>
                <c:pt idx="4">
                  <c:v>6203</c:v>
                </c:pt>
                <c:pt idx="5">
                  <c:v>1926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spc="800" kern="0" dirty="0">
                <a:solidFill>
                  <a:srgbClr val="EDE8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CRANK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66928" y="2423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Clientes &amp; CRM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1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marzo 2025 — junio 2026  ·  287 clientes  ·  $97,311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0" y="-1280160"/>
            <a:ext cx="4206240" cy="4206240"/>
          </a:xfrm>
          <a:prstGeom prst="ellipse">
            <a:avLst/>
          </a:prstGeom>
          <a:solidFill>
            <a:srgbClr val="194C3F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3108960"/>
            <a:ext cx="2926080" cy="2926080"/>
          </a:xfrm>
          <a:prstGeom prst="ellipse">
            <a:avLst/>
          </a:prstGeom>
          <a:solidFill>
            <a:srgbClr val="C8FF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negocio en cifras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1463040"/>
          </a:xfrm>
          <a:prstGeom prst="rect">
            <a:avLst/>
          </a:prstGeom>
          <a:solidFill>
            <a:srgbClr val="0D2821"/>
          </a:solidFill>
          <a:ln w="12700">
            <a:solidFill>
              <a:srgbClr val="E2DCC4"/>
            </a:solidFill>
            <a:prstDash val="solid"/>
          </a:ln>
          <a:effectLst>
            <a:outerShdw sx="100000" sy="100000" kx="0" ky="0" algn="bl" rotWithShape="0" blurRad="101600" dist="25400" dir="8100000">
              <a:srgbClr val="0D2821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63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$97,311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totales (15 meses)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234440"/>
            <a:ext cx="2606040" cy="1463040"/>
          </a:xfrm>
          <a:prstGeom prst="rect">
            <a:avLst/>
          </a:prstGeom>
          <a:solidFill>
            <a:srgbClr val="FAFAF7"/>
          </a:solidFill>
          <a:ln w="12700">
            <a:solidFill>
              <a:srgbClr val="E2DCC4"/>
            </a:solidFill>
            <a:prstDash val="solid"/>
          </a:ln>
          <a:effectLst>
            <a:outerShdw sx="100000" sy="100000" kx="0" ky="0" algn="bl" rotWithShape="0" blurRad="101600" dist="25400" dir="8100000">
              <a:srgbClr val="0D282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463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520440" y="2103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identificados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2606040" cy="1463040"/>
          </a:xfrm>
          <a:prstGeom prst="rect">
            <a:avLst/>
          </a:prstGeom>
          <a:solidFill>
            <a:srgbClr val="FAFAF7"/>
          </a:solidFill>
          <a:ln w="12700">
            <a:solidFill>
              <a:srgbClr val="E2DCC4"/>
            </a:solidFill>
            <a:prstDash val="solid"/>
          </a:ln>
          <a:effectLst>
            <a:outerShdw sx="100000" sy="100000" kx="0" ky="0" algn="bl" rotWithShape="0" blurRad="101600" dist="25400" dir="8100000">
              <a:srgbClr val="0D2821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463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1,107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55080" y="2103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 emitidas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2606040" cy="1463040"/>
          </a:xfrm>
          <a:prstGeom prst="rect">
            <a:avLst/>
          </a:prstGeom>
          <a:solidFill>
            <a:srgbClr val="FAFAF7"/>
          </a:solidFill>
          <a:ln w="12700">
            <a:solidFill>
              <a:srgbClr val="E2DCC4"/>
            </a:solidFill>
            <a:prstDash val="solid"/>
          </a:ln>
          <a:effectLst>
            <a:outerShdw sx="100000" sy="100000" kx="0" ky="0" algn="bl" rotWithShape="0" blurRad="101600" dist="25400" dir="8100000">
              <a:srgbClr val="0D2821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154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promedio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2926080"/>
            <a:ext cx="2606040" cy="1463040"/>
          </a:xfrm>
          <a:prstGeom prst="rect">
            <a:avLst/>
          </a:prstGeom>
          <a:solidFill>
            <a:srgbClr val="FAFAF7"/>
          </a:solidFill>
          <a:ln w="12700">
            <a:solidFill>
              <a:srgbClr val="E2DCC4"/>
            </a:solidFill>
            <a:prstDash val="solid"/>
          </a:ln>
          <a:effectLst>
            <a:outerShdw sx="100000" sy="100000" kx="0" ky="0" algn="bl" rotWithShape="0" blurRad="101600" dist="25400" dir="8100000">
              <a:srgbClr val="0D2821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3154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54.7%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52044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recompra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926080"/>
            <a:ext cx="2606040" cy="1463040"/>
          </a:xfrm>
          <a:prstGeom prst="rect">
            <a:avLst/>
          </a:prstGeom>
          <a:solidFill>
            <a:srgbClr val="FAFAF7"/>
          </a:solidFill>
          <a:ln w="12700">
            <a:solidFill>
              <a:srgbClr val="E2DCC4"/>
            </a:solidFill>
            <a:prstDash val="solid"/>
          </a:ln>
          <a:effectLst>
            <a:outerShdw sx="100000" sy="100000" kx="0" ky="0" algn="bl" rotWithShape="0" blurRad="101600" dist="25400" dir="8100000">
              <a:srgbClr val="0D2821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3154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 días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5508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 entre compras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venta de bicicletas completas en el período: la facturación vive de ropa, repuestos, taller y suplementos.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Evolución mensual de ventas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viene a la baja: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feb–jun 2026 promedia ~$4,280/mes frente a ~$6,970/mes en 2025. Marzo 2025 y junio 2026 son meses parciales.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Pocos clientes sostienen la venta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0D282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clientes genera el 80% de las ventas (87 de 287)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914400" cy="914400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4963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venta viene de solo 10 clientes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914400" cy="914400"/>
          </a:xfrm>
          <a:prstGeom prst="ellipse">
            <a:avLst/>
          </a:prstGeom>
          <a:solidFill>
            <a:srgbClr val="0D282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36393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venta identificada la aportan los 55 'Campeones'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212080" y="1097280"/>
          <a:ext cx="3749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212080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de Pareto: % acumulado de ventas por ranking de cliente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10 mejores clientes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1005840"/>
                <a:gridCol w="868680"/>
                <a:gridCol w="1325880"/>
                <a:gridCol w="1828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E8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E8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E8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E8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Facturas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E8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Días sin comprar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E8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Categoría favorita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2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Darwin Mendieta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Ropa &amp; Equipamiento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Valentina Martinez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Ropa &amp; Equipamiento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Andres Jeton Baculima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Ropa &amp; Equipamiento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Ojeda Diaz Fred Emilio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Ropa &amp; Equipamiento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Rolando Tenesaca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Repuestos &amp; Mant.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 Isabel Ordoñez Jaramillo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Ropa &amp; Equipamiento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Fernando Rios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Ropa &amp; Equipamiento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Leonardo Malo Heredia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Repuestos &amp; Mant.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Feed Cia.Ltda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Ropa &amp; Equipamiento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Silvio Brito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Suplementos &amp; Nutrición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de los 10 mejores son 'Campeones' activos; Andres Jeton (#3, $2,813) lleva 231 días sin comprar — contactarlo es prioridad.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Segmentación RFM de la base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Recencia · Frecuencia · Monto — 287 clientes clasificados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508760"/>
          </a:xfrm>
          <a:prstGeom prst="rect">
            <a:avLst/>
          </a:prstGeom>
          <a:solidFill>
            <a:srgbClr val="FAFAF7"/>
          </a:solidFill>
          <a:ln w="12700">
            <a:solidFill>
              <a:srgbClr val="E2DC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606040" cy="38404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71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8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Campeones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 clientes — $54,095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Compran mucho, seguido y reciente. 57% de la venta.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06040" cy="1508760"/>
          </a:xfrm>
          <a:prstGeom prst="rect">
            <a:avLst/>
          </a:prstGeom>
          <a:solidFill>
            <a:srgbClr val="FAFAF7"/>
          </a:solidFill>
          <a:ln w="12700">
            <a:solidFill>
              <a:srgbClr val="E2DC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371600"/>
            <a:ext cx="2606040" cy="384048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371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riesgo (valiosos)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3008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 clientes — $13,750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3008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 meses sin comprar. La recuperación más rentable.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06040" cy="1508760"/>
          </a:xfrm>
          <a:prstGeom prst="rect">
            <a:avLst/>
          </a:prstGeom>
          <a:solidFill>
            <a:srgbClr val="FAFAF7"/>
          </a:solidFill>
          <a:ln w="12700">
            <a:solidFill>
              <a:srgbClr val="E2DC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71600"/>
            <a:ext cx="260604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1371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Necesitan atención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 clientes — $13,049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media en descenso. Nutrir con novedades.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2606040" cy="1508760"/>
          </a:xfrm>
          <a:prstGeom prst="rect">
            <a:avLst/>
          </a:prstGeom>
          <a:solidFill>
            <a:srgbClr val="FAFAF7"/>
          </a:solidFill>
          <a:ln w="12700">
            <a:solidFill>
              <a:srgbClr val="E2DC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63240"/>
            <a:ext cx="2606040" cy="384048"/>
          </a:xfrm>
          <a:prstGeom prst="rect">
            <a:avLst/>
          </a:prstGeom>
          <a:solidFill>
            <a:srgbClr val="A7F3D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8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 clientes — $4,644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Frecuentes de ticket bajo. Hacer cross-selling.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3063240"/>
            <a:ext cx="2606040" cy="1508760"/>
          </a:xfrm>
          <a:prstGeom prst="rect">
            <a:avLst/>
          </a:prstGeom>
          <a:solidFill>
            <a:srgbClr val="FAFAF7"/>
          </a:solidFill>
          <a:ln w="12700">
            <a:solidFill>
              <a:srgbClr val="E2DC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3063240"/>
            <a:ext cx="2606040" cy="38404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Hibernando + Perdidos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93008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 clientes — $4,753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93008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actividad y antigüedad. Campaña de rescate única.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3063240"/>
            <a:ext cx="2606040" cy="1508760"/>
          </a:xfrm>
          <a:prstGeom prst="rect">
            <a:avLst/>
          </a:prstGeom>
          <a:solidFill>
            <a:srgbClr val="FAFAF7"/>
          </a:solidFill>
          <a:ln w="12700">
            <a:solidFill>
              <a:srgbClr val="E2DC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063240"/>
            <a:ext cx="2606040" cy="384048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8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Nuevos + Prometedores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27648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 clientes — $2,389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27648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Primeras compras recientes. Onboarding y 2da visita.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compran nuestros clientes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846320" y="1143000"/>
            <a:ext cx="64008" cy="713232"/>
          </a:xfrm>
          <a:prstGeom prst="rect">
            <a:avLst/>
          </a:prstGeom>
          <a:solidFill>
            <a:srgbClr val="0D2821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8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Ropa &amp; Equipamiento — $28,885 (31%)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Colours, cascos, gafas KOO. Mayor ticket.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46320" y="2011680"/>
            <a:ext cx="64008" cy="713232"/>
          </a:xfrm>
          <a:prstGeom prst="rect">
            <a:avLst/>
          </a:prstGeom>
          <a:solidFill>
            <a:srgbClr val="194C3F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8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Repuestos &amp; Mantenimiento — $27,019 (29%)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Cadenas, llantas, pastillas. Compra recurrente.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46320" y="2880360"/>
            <a:ext cx="64008" cy="713232"/>
          </a:xfrm>
          <a:prstGeom prst="rect">
            <a:avLst/>
          </a:prstGeom>
          <a:solidFill>
            <a:srgbClr val="9CC40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8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&amp; Servicios — $15,652 (17%)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visitas: trae al cliente cada ~29 días.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3749040"/>
            <a:ext cx="64008" cy="713232"/>
          </a:xfrm>
          <a:prstGeom prst="rect">
            <a:avLst/>
          </a:prstGeom>
          <a:solidFill>
            <a:srgbClr val="B98AE0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8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Suplementos &amp; Nutrición — $14,834 (16%)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Precision, Tailwind, Santa Madre. Alta recompra.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DE8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acción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502920" cy="502920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05156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Retener a los 55 Campeones  —  </a:t>
            </a:r>
            <a:pPr indent="0" marL="0">
              <a:buNone/>
            </a:pPr>
            <a:r>
              <a:rPr lang="en-US" sz="1150" dirty="0">
                <a:solidFill>
                  <a:srgbClr val="BFD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VIP: acceso anticipado a colecciones, descuento exclusivo y evento Crank. Protegen $54k de venta.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856232"/>
            <a:ext cx="502920" cy="502920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81051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a los 33 en riesgo  —  </a:t>
            </a:r>
            <a:pPr indent="0" marL="0">
              <a:buNone/>
            </a:pPr>
            <a:r>
              <a:rPr lang="en-US" sz="1150" dirty="0">
                <a:solidFill>
                  <a:srgbClr val="BFD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personal (WhatsApp) + oferta de taller este mes. $13.7k de valor histórico en juego.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615184"/>
            <a:ext cx="502920" cy="502920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569464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 a los 392 sin compras  —  </a:t>
            </a:r>
            <a:pPr indent="0" marL="0">
              <a:buNone/>
            </a:pPr>
            <a:r>
              <a:rPr lang="en-US" sz="1150" dirty="0">
                <a:solidFill>
                  <a:srgbClr val="BFD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 del maestro nunca compró. Todos tienen email: campaña de bienvenida + promo de primera visita.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374136"/>
            <a:ext cx="502920" cy="502920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328416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 los $9,362 pendientes  —  </a:t>
            </a:r>
            <a:pPr indent="0" marL="0">
              <a:buNone/>
            </a:pPr>
            <a:r>
              <a:rPr lang="en-US" sz="1150" dirty="0">
                <a:solidFill>
                  <a:srgbClr val="BFD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 facturas con saldo. Priorizar las de mayor monto (lista en el Excel, hoja 'Por Cobrar').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133088"/>
            <a:ext cx="502920" cy="502920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28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087368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Investigar la caída 2026  —  </a:t>
            </a:r>
            <a:pPr indent="0" marL="0">
              <a:buNone/>
            </a:pPr>
            <a:r>
              <a:rPr lang="en-US" sz="1150" dirty="0">
                <a:solidFill>
                  <a:srgbClr val="BFD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feb–jun 2026 ~39% bajo el promedio 2025. Revisar stock, temporada y competencia (LAP.ccc).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Crank — Análisis de Clientes</dc:title>
  <dc:subject>PptxGenJS Presentation</dc:subject>
  <dc:creator>Crank EC</dc:creator>
  <cp:lastModifiedBy>Crank EC</cp:lastModifiedBy>
  <cp:revision>1</cp:revision>
  <dcterms:created xsi:type="dcterms:W3CDTF">2026-06-12T17:50:12Z</dcterms:created>
  <dcterms:modified xsi:type="dcterms:W3CDTF">2026-06-12T17:50:12Z</dcterms:modified>
</cp:coreProperties>
</file>